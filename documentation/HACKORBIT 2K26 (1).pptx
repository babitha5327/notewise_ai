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5" roundtripDataSignature="AMtx7miv2xcKb+SlNCkwO8eaEM2Vek0Ze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0B13CB-783F-4BE6-A161-7CED445A86F3}" v="570" dt="2026-08-12T08:26:14.9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customschemas.google.com/relationships/presentationmetadata" Target="meta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9" name="Google Shape;25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1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9"/>
          <p:cNvSpPr>
            <a:spLocks noGrp="1"/>
          </p:cNvSpPr>
          <p:nvPr>
            <p:ph type="pic" idx="2"/>
          </p:nvPr>
        </p:nvSpPr>
        <p:spPr>
          <a:xfrm>
            <a:off x="1792288" y="612775"/>
            <a:ext cx="5486400" cy="4114800"/>
          </a:xfrm>
          <a:prstGeom prst="rect">
            <a:avLst/>
          </a:prstGeom>
          <a:noFill/>
          <a:ln>
            <a:noFill/>
          </a:ln>
        </p:spPr>
      </p:sp>
      <p:sp>
        <p:nvSpPr>
          <p:cNvPr id="64" name="Google Shape;64;p1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83"/>
        <p:cNvGrpSpPr/>
        <p:nvPr/>
      </p:nvGrpSpPr>
      <p:grpSpPr>
        <a:xfrm>
          <a:off x="0" y="0"/>
          <a:ext cx="0" cy="0"/>
          <a:chOff x="0" y="0"/>
          <a:chExt cx="0" cy="0"/>
        </a:xfrm>
      </p:grpSpPr>
      <p:sp>
        <p:nvSpPr>
          <p:cNvPr id="84" name="Google Shape;84;p1"/>
          <p:cNvSpPr txBox="1"/>
          <p:nvPr/>
        </p:nvSpPr>
        <p:spPr>
          <a:xfrm>
            <a:off x="4459221" y="1202180"/>
            <a:ext cx="32736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14917D"/>
                </a:solidFill>
                <a:latin typeface="Arial"/>
                <a:ea typeface="Arial"/>
                <a:cs typeface="Arial"/>
                <a:sym typeface="Arial"/>
              </a:rPr>
              <a:t>HACKORBIT 2K26</a:t>
            </a:r>
            <a:endParaRPr sz="1600" b="1" i="0" u="none" strike="noStrike" cap="none">
              <a:solidFill>
                <a:srgbClr val="14917D"/>
              </a:solidFill>
              <a:latin typeface="Arial"/>
              <a:ea typeface="Arial"/>
              <a:cs typeface="Arial"/>
              <a:sym typeface="Arial"/>
            </a:endParaRPr>
          </a:p>
        </p:txBody>
      </p:sp>
      <p:sp>
        <p:nvSpPr>
          <p:cNvPr id="85" name="Google Shape;85;p1"/>
          <p:cNvSpPr txBox="1"/>
          <p:nvPr/>
        </p:nvSpPr>
        <p:spPr>
          <a:xfrm>
            <a:off x="731520" y="2553243"/>
            <a:ext cx="20637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rgbClr val="192A46"/>
                </a:solidFill>
                <a:latin typeface="Arial"/>
                <a:ea typeface="Arial"/>
                <a:cs typeface="Arial"/>
                <a:sym typeface="Arial"/>
              </a:rPr>
              <a:t>TEAM DETAILS</a:t>
            </a:r>
            <a:endParaRPr/>
          </a:p>
        </p:txBody>
      </p:sp>
      <p:sp>
        <p:nvSpPr>
          <p:cNvPr id="86" name="Google Shape;86;p1"/>
          <p:cNvSpPr txBox="1"/>
          <p:nvPr/>
        </p:nvSpPr>
        <p:spPr>
          <a:xfrm>
            <a:off x="1347795" y="1846961"/>
            <a:ext cx="10515600" cy="523200"/>
          </a:xfrm>
          <a:prstGeom prst="rect">
            <a:avLst/>
          </a:prstGeom>
          <a:noFill/>
          <a:ln>
            <a:noFill/>
          </a:ln>
        </p:spPr>
        <p:txBody>
          <a:bodyPr spcFirstLastPara="1" wrap="square" lIns="91425" tIns="45700" rIns="91425" bIns="45700" anchor="t" anchorCtr="0">
            <a:spAutoFit/>
          </a:bodyPr>
          <a:lstStyle/>
          <a:p>
            <a:pPr algn="ctr"/>
            <a:r>
              <a:rPr lang="en-US" sz="2800">
                <a:solidFill>
                  <a:srgbClr val="192A46"/>
                </a:solidFill>
              </a:rPr>
              <a:t>Notes Digitizer + Summarizer</a:t>
            </a:r>
            <a:endParaRPr lang="en-US"/>
          </a:p>
        </p:txBody>
      </p:sp>
      <p:sp>
        <p:nvSpPr>
          <p:cNvPr id="87" name="Google Shape;87;p1"/>
          <p:cNvSpPr/>
          <p:nvPr/>
        </p:nvSpPr>
        <p:spPr>
          <a:xfrm>
            <a:off x="731520" y="3154680"/>
            <a:ext cx="3474720" cy="228600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8" name="Google Shape;88;p1"/>
          <p:cNvSpPr txBox="1"/>
          <p:nvPr/>
        </p:nvSpPr>
        <p:spPr>
          <a:xfrm>
            <a:off x="932688" y="3310128"/>
            <a:ext cx="307238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TEAM NAME</a:t>
            </a:r>
            <a:endParaRPr/>
          </a:p>
        </p:txBody>
      </p:sp>
      <p:sp>
        <p:nvSpPr>
          <p:cNvPr id="89" name="Google Shape;89;p1"/>
          <p:cNvSpPr txBox="1"/>
          <p:nvPr/>
        </p:nvSpPr>
        <p:spPr>
          <a:xfrm>
            <a:off x="1033328" y="3635345"/>
            <a:ext cx="2364877" cy="915595"/>
          </a:xfrm>
          <a:prstGeom prst="rect">
            <a:avLst/>
          </a:prstGeom>
          <a:noFill/>
          <a:ln>
            <a:noFill/>
          </a:ln>
        </p:spPr>
        <p:txBody>
          <a:bodyPr spcFirstLastPara="1" wrap="square" lIns="91425" tIns="45700" rIns="91425" bIns="45700" anchor="t" anchorCtr="0">
            <a:spAutoFit/>
          </a:bodyPr>
          <a:lstStyle/>
          <a:p>
            <a:r>
              <a:rPr lang="en-US">
                <a:solidFill>
                  <a:srgbClr val="232D3C"/>
                </a:solidFill>
              </a:rPr>
              <a:t>HACKMINDS</a:t>
            </a:r>
            <a:br>
              <a:rPr lang="en-US" b="0" i="0" u="none" strike="noStrike" cap="none" dirty="0">
                <a:latin typeface="Arial"/>
                <a:ea typeface="Arial"/>
                <a:cs typeface="Arial"/>
              </a:rPr>
            </a:br>
            <a:endParaRPr lang="en-US">
              <a:solidFill>
                <a:srgbClr val="232D3C"/>
              </a:solidFill>
            </a:endParaRPr>
          </a:p>
          <a:p>
            <a:r>
              <a:rPr lang="en-US" b="1"/>
              <a:t>TRACK: NEURAL NEXUS</a:t>
            </a:r>
          </a:p>
          <a:p>
            <a:pPr marL="0" marR="0" lvl="0" indent="0" algn="l">
              <a:spcBef>
                <a:spcPts val="0"/>
              </a:spcBef>
              <a:spcAft>
                <a:spcPts val="0"/>
              </a:spcAft>
              <a:buNone/>
            </a:pPr>
            <a:endParaRPr lang="en-US" sz="1150" b="0" i="0" u="none" strike="noStrike" cap="none" dirty="0">
              <a:latin typeface="Arial"/>
              <a:ea typeface="Arial"/>
              <a:cs typeface="Arial"/>
            </a:endParaRPr>
          </a:p>
        </p:txBody>
      </p:sp>
      <p:sp>
        <p:nvSpPr>
          <p:cNvPr id="90" name="Google Shape;90;p1"/>
          <p:cNvSpPr/>
          <p:nvPr/>
        </p:nvSpPr>
        <p:spPr>
          <a:xfrm>
            <a:off x="4389120" y="3154680"/>
            <a:ext cx="3474720" cy="228600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1" name="Google Shape;91;p1"/>
          <p:cNvSpPr txBox="1"/>
          <p:nvPr/>
        </p:nvSpPr>
        <p:spPr>
          <a:xfrm>
            <a:off x="4590288" y="3310128"/>
            <a:ext cx="307238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TEAM LEADER</a:t>
            </a:r>
            <a:endParaRPr/>
          </a:p>
        </p:txBody>
      </p:sp>
      <p:sp>
        <p:nvSpPr>
          <p:cNvPr id="92" name="Google Shape;92;p1"/>
          <p:cNvSpPr txBox="1"/>
          <p:nvPr/>
        </p:nvSpPr>
        <p:spPr>
          <a:xfrm>
            <a:off x="4590288" y="3635344"/>
            <a:ext cx="3144270" cy="623207"/>
          </a:xfrm>
          <a:prstGeom prst="rect">
            <a:avLst/>
          </a:prstGeom>
          <a:noFill/>
          <a:ln>
            <a:noFill/>
          </a:ln>
        </p:spPr>
        <p:txBody>
          <a:bodyPr spcFirstLastPara="1" wrap="square" lIns="91425" tIns="45700" rIns="91425" bIns="45700" anchor="t" anchorCtr="0">
            <a:spAutoFit/>
          </a:bodyPr>
          <a:lstStyle/>
          <a:p>
            <a:r>
              <a:rPr lang="en-US" sz="1150">
                <a:solidFill>
                  <a:srgbClr val="232D3C"/>
                </a:solidFill>
              </a:rPr>
              <a:t>BABITHA M</a:t>
            </a:r>
            <a:br>
              <a:rPr lang="en-US" sz="1150" dirty="0">
                <a:solidFill>
                  <a:srgbClr val="232D3C"/>
                </a:solidFill>
              </a:rPr>
            </a:br>
            <a:r>
              <a:rPr lang="en-US" sz="1150">
                <a:solidFill>
                  <a:srgbClr val="232D3C"/>
                </a:solidFill>
              </a:rPr>
              <a:t>7376242AD126</a:t>
            </a:r>
            <a:br>
              <a:rPr lang="en-US" sz="1150" dirty="0">
                <a:solidFill>
                  <a:srgbClr val="232D3C"/>
                </a:solidFill>
              </a:rPr>
            </a:br>
            <a:r>
              <a:rPr lang="en-US" sz="1150">
                <a:solidFill>
                  <a:srgbClr val="232D3C"/>
                </a:solidFill>
              </a:rPr>
              <a:t>AIDS</a:t>
            </a:r>
            <a:endParaRPr lang="en-US" sz="1150" dirty="0">
              <a:solidFill>
                <a:srgbClr val="232D3C"/>
              </a:solidFill>
            </a:endParaRPr>
          </a:p>
        </p:txBody>
      </p:sp>
      <p:sp>
        <p:nvSpPr>
          <p:cNvPr id="93" name="Google Shape;93;p1"/>
          <p:cNvSpPr/>
          <p:nvPr/>
        </p:nvSpPr>
        <p:spPr>
          <a:xfrm>
            <a:off x="8046720" y="3154680"/>
            <a:ext cx="3383280" cy="228600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4" name="Google Shape;94;p1"/>
          <p:cNvSpPr txBox="1"/>
          <p:nvPr/>
        </p:nvSpPr>
        <p:spPr>
          <a:xfrm>
            <a:off x="8247888" y="3310128"/>
            <a:ext cx="298094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TEAM MEMBERS</a:t>
            </a:r>
            <a:endParaRPr/>
          </a:p>
        </p:txBody>
      </p:sp>
      <p:sp>
        <p:nvSpPr>
          <p:cNvPr id="95" name="Google Shape;95;p1"/>
          <p:cNvSpPr txBox="1"/>
          <p:nvPr/>
        </p:nvSpPr>
        <p:spPr>
          <a:xfrm>
            <a:off x="8247888" y="3721608"/>
            <a:ext cx="2980944" cy="623207"/>
          </a:xfrm>
          <a:prstGeom prst="rect">
            <a:avLst/>
          </a:prstGeom>
          <a:noFill/>
          <a:ln>
            <a:noFill/>
          </a:ln>
        </p:spPr>
        <p:txBody>
          <a:bodyPr spcFirstLastPara="1" wrap="square" lIns="91425" tIns="45700" rIns="91425" bIns="45700" anchor="t" anchorCtr="0">
            <a:spAutoFit/>
          </a:bodyPr>
          <a:lstStyle/>
          <a:p>
            <a:r>
              <a:rPr lang="en-US" sz="1150">
                <a:solidFill>
                  <a:srgbClr val="232D3C"/>
                </a:solidFill>
              </a:rPr>
              <a:t>MADHUVIDHYA P</a:t>
            </a:r>
            <a:br>
              <a:rPr lang="en-US" sz="1150" dirty="0">
                <a:solidFill>
                  <a:srgbClr val="232D3C"/>
                </a:solidFill>
              </a:rPr>
            </a:br>
            <a:r>
              <a:rPr lang="en-US" sz="1150">
                <a:solidFill>
                  <a:srgbClr val="232D3C"/>
                </a:solidFill>
              </a:rPr>
              <a:t>7376242AD210</a:t>
            </a:r>
            <a:br>
              <a:rPr lang="en-US" sz="1150" dirty="0">
                <a:solidFill>
                  <a:srgbClr val="232D3C"/>
                </a:solidFill>
              </a:rPr>
            </a:br>
            <a:r>
              <a:rPr lang="en-US" sz="1150">
                <a:solidFill>
                  <a:srgbClr val="232D3C"/>
                </a:solidFill>
              </a:rPr>
              <a:t>AIDS</a:t>
            </a:r>
            <a:endParaRPr lang="en-US" sz="1150" dirty="0">
              <a:solidFill>
                <a:srgbClr val="232D3C"/>
              </a:solidFill>
            </a:endParaRPr>
          </a:p>
        </p:txBody>
      </p:sp>
      <p:sp>
        <p:nvSpPr>
          <p:cNvPr id="96" name="Google Shape;96;p1"/>
          <p:cNvSpPr txBox="1"/>
          <p:nvPr/>
        </p:nvSpPr>
        <p:spPr>
          <a:xfrm>
            <a:off x="640080" y="6473952"/>
            <a:ext cx="5486400" cy="1828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0" i="0" u="none" strike="noStrike" cap="none">
                <a:solidFill>
                  <a:srgbClr val="697687"/>
                </a:solidFill>
                <a:latin typeface="Arial"/>
                <a:ea typeface="Arial"/>
                <a:cs typeface="Arial"/>
                <a:sym typeface="Arial"/>
              </a:rPr>
              <a:t>TEAM NAME  •  INSTITUTION</a:t>
            </a:r>
            <a:endParaRPr/>
          </a:p>
        </p:txBody>
      </p:sp>
      <p:sp>
        <p:nvSpPr>
          <p:cNvPr id="97" name="Google Shape;97;p1"/>
          <p:cNvSpPr txBox="1"/>
          <p:nvPr/>
        </p:nvSpPr>
        <p:spPr>
          <a:xfrm>
            <a:off x="11109960" y="6473952"/>
            <a:ext cx="365760" cy="18288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800" b="0" i="0" u="none" strike="noStrike" cap="none">
                <a:solidFill>
                  <a:srgbClr val="697687"/>
                </a:solidFill>
                <a:latin typeface="Arial"/>
                <a:ea typeface="Arial"/>
                <a:cs typeface="Arial"/>
                <a:sym typeface="Arial"/>
              </a:rPr>
              <a:t>1</a:t>
            </a:r>
            <a:endParaRPr/>
          </a:p>
        </p:txBody>
      </p:sp>
      <p:pic>
        <p:nvPicPr>
          <p:cNvPr id="98" name="Google Shape;98;p1" descr="C:\Users\New\Downloads\BIT (2).png"/>
          <p:cNvPicPr preferRelativeResize="0"/>
          <p:nvPr/>
        </p:nvPicPr>
        <p:blipFill rotWithShape="1">
          <a:blip r:embed="rId3">
            <a:alphaModFix/>
          </a:blip>
          <a:srcRect/>
          <a:stretch/>
        </p:blipFill>
        <p:spPr>
          <a:xfrm>
            <a:off x="1036174" y="87630"/>
            <a:ext cx="10180640" cy="1009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02"/>
        <p:cNvGrpSpPr/>
        <p:nvPr/>
      </p:nvGrpSpPr>
      <p:grpSpPr>
        <a:xfrm>
          <a:off x="0" y="0"/>
          <a:ext cx="0" cy="0"/>
          <a:chOff x="0" y="0"/>
          <a:chExt cx="0" cy="0"/>
        </a:xfrm>
      </p:grpSpPr>
      <p:sp>
        <p:nvSpPr>
          <p:cNvPr id="103" name="Google Shape;103;p2"/>
          <p:cNvSpPr txBox="1"/>
          <p:nvPr/>
        </p:nvSpPr>
        <p:spPr>
          <a:xfrm>
            <a:off x="658368" y="146304"/>
            <a:ext cx="1184940"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b="1" i="0" u="none" strike="noStrike" cap="none">
                <a:solidFill>
                  <a:srgbClr val="14917D"/>
                </a:solidFill>
                <a:latin typeface="Arial"/>
                <a:ea typeface="Arial"/>
                <a:cs typeface="Arial"/>
                <a:sym typeface="Arial"/>
              </a:rPr>
              <a:t>HACKORBIT 2K26</a:t>
            </a:r>
            <a:endParaRPr sz="900" b="1" i="0" u="none" strike="noStrike" cap="none">
              <a:solidFill>
                <a:srgbClr val="14917D"/>
              </a:solidFill>
              <a:latin typeface="Arial"/>
              <a:ea typeface="Arial"/>
              <a:cs typeface="Arial"/>
              <a:sym typeface="Arial"/>
            </a:endParaRPr>
          </a:p>
        </p:txBody>
      </p:sp>
      <p:sp>
        <p:nvSpPr>
          <p:cNvPr id="104" name="Google Shape;104;p2"/>
          <p:cNvSpPr txBox="1"/>
          <p:nvPr/>
        </p:nvSpPr>
        <p:spPr>
          <a:xfrm>
            <a:off x="640080" y="438912"/>
            <a:ext cx="10881360" cy="5303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a:solidFill>
                  <a:srgbClr val="192A46"/>
                </a:solidFill>
                <a:latin typeface="Arial"/>
                <a:ea typeface="Arial"/>
                <a:cs typeface="Arial"/>
                <a:sym typeface="Arial"/>
              </a:rPr>
              <a:t>PROBLEM STATEMENT</a:t>
            </a:r>
            <a:endParaRPr/>
          </a:p>
        </p:txBody>
      </p:sp>
      <p:sp>
        <p:nvSpPr>
          <p:cNvPr id="105" name="Google Shape;105;p2"/>
          <p:cNvSpPr txBox="1"/>
          <p:nvPr/>
        </p:nvSpPr>
        <p:spPr>
          <a:xfrm>
            <a:off x="658368" y="987552"/>
            <a:ext cx="105156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697687"/>
                </a:solidFill>
                <a:latin typeface="Arial"/>
                <a:ea typeface="Arial"/>
                <a:cs typeface="Arial"/>
                <a:sym typeface="Arial"/>
              </a:rPr>
              <a:t>Define the problem clearly and concisely</a:t>
            </a:r>
            <a:endParaRPr/>
          </a:p>
        </p:txBody>
      </p:sp>
      <p:sp>
        <p:nvSpPr>
          <p:cNvPr id="106" name="Google Shape;106;p2"/>
          <p:cNvSpPr/>
          <p:nvPr/>
        </p:nvSpPr>
        <p:spPr>
          <a:xfrm>
            <a:off x="731520" y="1417320"/>
            <a:ext cx="6675120" cy="429768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7" name="Google Shape;107;p2"/>
          <p:cNvSpPr txBox="1"/>
          <p:nvPr/>
        </p:nvSpPr>
        <p:spPr>
          <a:xfrm>
            <a:off x="932688" y="1572768"/>
            <a:ext cx="6272783"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THE PROBLEM</a:t>
            </a:r>
            <a:endParaRPr/>
          </a:p>
        </p:txBody>
      </p:sp>
      <p:sp>
        <p:nvSpPr>
          <p:cNvPr id="108" name="Google Shape;108;p2"/>
          <p:cNvSpPr txBox="1"/>
          <p:nvPr/>
        </p:nvSpPr>
        <p:spPr>
          <a:xfrm>
            <a:off x="932688" y="1984248"/>
            <a:ext cx="6272783" cy="3139281"/>
          </a:xfrm>
          <a:prstGeom prst="rect">
            <a:avLst/>
          </a:prstGeom>
          <a:noFill/>
          <a:ln>
            <a:noFill/>
          </a:ln>
        </p:spPr>
        <p:txBody>
          <a:bodyPr spcFirstLastPara="1" wrap="square" lIns="91425" tIns="45700" rIns="91425" bIns="45700" anchor="t" anchorCtr="0">
            <a:spAutoFit/>
          </a:bodyPr>
          <a:lstStyle/>
          <a:p>
            <a:r>
              <a:rPr lang="en-US"/>
              <a:t>Problem Statement:</a:t>
            </a:r>
          </a:p>
          <a:p>
            <a:r>
              <a:rPr lang="en-US" sz="1150" b="1"/>
              <a:t>Handwritten academic notes are difficult to digitize, organize and revise efficiently. Students often need to manually convert their notes into digital text and then spend additional time identifying important information and creating concise study material.</a:t>
            </a:r>
            <a:endParaRPr lang="en-US"/>
          </a:p>
          <a:p>
            <a:br>
              <a:rPr lang="en-US" sz="1150" b="0" i="0" u="none" strike="noStrike" cap="none" dirty="0">
                <a:latin typeface="Arial"/>
                <a:ea typeface="Arial"/>
                <a:cs typeface="Arial"/>
              </a:rPr>
            </a:br>
            <a:r>
              <a:rPr lang="en-US" sz="1150" b="0" i="0" u="none" strike="noStrike" cap="none">
                <a:solidFill>
                  <a:srgbClr val="232D3C"/>
                </a:solidFill>
                <a:latin typeface="Arial"/>
                <a:ea typeface="Arial"/>
                <a:cs typeface="Arial"/>
                <a:sym typeface="Arial"/>
              </a:rPr>
              <a:t>•</a:t>
            </a:r>
            <a:r>
              <a:rPr lang="en-US" sz="1150">
                <a:solidFill>
                  <a:srgbClr val="232D3C"/>
                </a:solidFill>
              </a:rPr>
              <a:t> What is the existing problem</a:t>
            </a:r>
            <a:r>
              <a:rPr lang="en-US" sz="1150" b="0" i="0" u="none" strike="noStrike" cap="none">
                <a:solidFill>
                  <a:srgbClr val="232D3C"/>
                </a:solidFill>
                <a:latin typeface="Arial"/>
                <a:ea typeface="Arial"/>
                <a:cs typeface="Arial"/>
                <a:sym typeface="Arial"/>
              </a:rPr>
              <a:t>?</a:t>
            </a:r>
            <a:br>
              <a:rPr lang="en-US" sz="1150" b="0" i="0" u="none" strike="noStrike" cap="none" dirty="0">
                <a:solidFill>
                  <a:srgbClr val="232D3C"/>
                </a:solidFill>
                <a:latin typeface="Arial"/>
                <a:ea typeface="Arial"/>
                <a:cs typeface="Arial"/>
              </a:rPr>
            </a:br>
            <a:r>
              <a:rPr lang="en-US" sz="1150"/>
              <a:t>Handwritten notes are difficult to search, edit and quickly understand.</a:t>
            </a:r>
            <a:br>
              <a:rPr lang="en-US" sz="1150" dirty="0"/>
            </a:br>
            <a:r>
              <a:rPr lang="en-US" sz="1150" b="0" i="0" u="none" strike="noStrike" cap="none">
                <a:solidFill>
                  <a:srgbClr val="232D3C"/>
                </a:solidFill>
                <a:latin typeface="Arial"/>
                <a:ea typeface="Arial"/>
                <a:cs typeface="Arial"/>
                <a:sym typeface="Arial"/>
              </a:rPr>
              <a:t>• </a:t>
            </a:r>
            <a:r>
              <a:rPr lang="en-US" sz="1150" i="0" u="none" strike="noStrike" cap="none">
                <a:solidFill>
                  <a:srgbClr val="232D3C"/>
                </a:solidFill>
                <a:latin typeface="Arial"/>
                <a:ea typeface="Arial"/>
                <a:cs typeface="Arial"/>
                <a:sym typeface="Arial"/>
              </a:rPr>
              <a:t>Who is affected</a:t>
            </a:r>
            <a:r>
              <a:rPr lang="en-US" sz="1150" b="0" i="0" u="none" strike="noStrike" cap="none">
                <a:solidFill>
                  <a:srgbClr val="232D3C"/>
                </a:solidFill>
                <a:latin typeface="Arial"/>
                <a:ea typeface="Arial"/>
                <a:cs typeface="Arial"/>
                <a:sym typeface="Arial"/>
              </a:rPr>
              <a:t>?</a:t>
            </a:r>
            <a:br>
              <a:rPr lang="en-US" sz="1150" b="0" i="0" u="none" strike="noStrike" cap="none" dirty="0">
                <a:solidFill>
                  <a:srgbClr val="232D3C"/>
                </a:solidFill>
                <a:latin typeface="Arial"/>
                <a:ea typeface="Arial"/>
                <a:cs typeface="Arial"/>
              </a:rPr>
            </a:br>
            <a:r>
              <a:rPr lang="en-US" sz="1150"/>
              <a:t>Students and learners who depend on handwritten academic notes.</a:t>
            </a:r>
            <a:br>
              <a:rPr lang="en-US" sz="1150" dirty="0"/>
            </a:br>
            <a:r>
              <a:rPr lang="en-US" sz="1150" b="0" i="0" u="none" strike="noStrike" cap="none">
                <a:solidFill>
                  <a:srgbClr val="232D3C"/>
                </a:solidFill>
                <a:latin typeface="Arial"/>
                <a:ea typeface="Arial"/>
                <a:cs typeface="Arial"/>
                <a:sym typeface="Arial"/>
              </a:rPr>
              <a:t>•</a:t>
            </a:r>
            <a:r>
              <a:rPr lang="en-US" sz="1150" i="0" u="none" strike="noStrike" cap="none">
                <a:solidFill>
                  <a:srgbClr val="232D3C"/>
                </a:solidFill>
                <a:latin typeface="Arial"/>
                <a:ea typeface="Arial"/>
                <a:cs typeface="Arial"/>
                <a:sym typeface="Arial"/>
              </a:rPr>
              <a:t> Why is it important?</a:t>
            </a:r>
            <a:br>
              <a:rPr lang="en-US" sz="1150" i="0" u="none" strike="noStrike" cap="none" dirty="0">
                <a:latin typeface="Arial"/>
                <a:ea typeface="Arial"/>
                <a:cs typeface="Arial"/>
              </a:rPr>
            </a:br>
            <a:r>
              <a:rPr lang="en-US" sz="1150"/>
              <a:t>Manual digitization and revision take additional time and effort, especially when preparing from lengthy notes.</a:t>
            </a:r>
            <a:br>
              <a:rPr lang="en-US" sz="1150" dirty="0"/>
            </a:br>
            <a:r>
              <a:rPr lang="en-US" sz="1150" b="0" i="0" u="none" strike="noStrike" cap="none">
                <a:solidFill>
                  <a:srgbClr val="232D3C"/>
                </a:solidFill>
                <a:latin typeface="Arial"/>
                <a:ea typeface="Arial"/>
                <a:cs typeface="Arial"/>
                <a:sym typeface="Arial"/>
              </a:rPr>
              <a:t>• What are the limitations of current solutions?</a:t>
            </a:r>
            <a:br>
              <a:rPr lang="en-US" sz="1150" dirty="0">
                <a:solidFill>
                  <a:srgbClr val="232D3C"/>
                </a:solidFill>
              </a:rPr>
            </a:br>
            <a:r>
              <a:rPr lang="en-US" sz="1150"/>
              <a:t>Existing OCR-focused solutions mainly convert handwriting into text. They do not provide a complete workflow for turning the extracted content into concise, revision-ready study material.</a:t>
            </a:r>
            <a:endParaRPr lang="en-US"/>
          </a:p>
          <a:p>
            <a:endParaRPr lang="en-US" sz="1150" dirty="0"/>
          </a:p>
        </p:txBody>
      </p:sp>
      <p:sp>
        <p:nvSpPr>
          <p:cNvPr id="109" name="Google Shape;109;p2"/>
          <p:cNvSpPr/>
          <p:nvPr/>
        </p:nvSpPr>
        <p:spPr>
          <a:xfrm>
            <a:off x="7726679" y="1417320"/>
            <a:ext cx="3657600" cy="429768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0" name="Google Shape;110;p2"/>
          <p:cNvSpPr txBox="1"/>
          <p:nvPr/>
        </p:nvSpPr>
        <p:spPr>
          <a:xfrm>
            <a:off x="7927848" y="1572768"/>
            <a:ext cx="32552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VISUAL / EVIDENCE</a:t>
            </a:r>
            <a:endParaRPr/>
          </a:p>
        </p:txBody>
      </p:sp>
      <p:sp>
        <p:nvSpPr>
          <p:cNvPr id="111" name="Google Shape;111;p2"/>
          <p:cNvSpPr txBox="1"/>
          <p:nvPr/>
        </p:nvSpPr>
        <p:spPr>
          <a:xfrm>
            <a:off x="7927848" y="1984248"/>
            <a:ext cx="3255264" cy="2692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lang="en-US" sz="1150">
              <a:solidFill>
                <a:srgbClr val="232D3C"/>
              </a:solidFill>
            </a:endParaRPr>
          </a:p>
        </p:txBody>
      </p:sp>
      <p:sp>
        <p:nvSpPr>
          <p:cNvPr id="112" name="Google Shape;112;p2"/>
          <p:cNvSpPr txBox="1"/>
          <p:nvPr/>
        </p:nvSpPr>
        <p:spPr>
          <a:xfrm>
            <a:off x="640080" y="6473952"/>
            <a:ext cx="5486400" cy="1828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0" i="0" u="none" strike="noStrike" cap="none">
                <a:solidFill>
                  <a:srgbClr val="697687"/>
                </a:solidFill>
                <a:latin typeface="Arial"/>
                <a:ea typeface="Arial"/>
                <a:cs typeface="Arial"/>
                <a:sym typeface="Arial"/>
              </a:rPr>
              <a:t>TEAM NAME  •  INSTITUTION</a:t>
            </a:r>
            <a:endParaRPr/>
          </a:p>
        </p:txBody>
      </p:sp>
      <p:sp>
        <p:nvSpPr>
          <p:cNvPr id="113" name="Google Shape;113;p2"/>
          <p:cNvSpPr txBox="1"/>
          <p:nvPr/>
        </p:nvSpPr>
        <p:spPr>
          <a:xfrm>
            <a:off x="11109960" y="6473952"/>
            <a:ext cx="365760" cy="18288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800" b="0" i="0" u="none" strike="noStrike" cap="none">
                <a:solidFill>
                  <a:srgbClr val="697687"/>
                </a:solidFill>
                <a:latin typeface="Arial"/>
                <a:ea typeface="Arial"/>
                <a:cs typeface="Arial"/>
                <a:sym typeface="Arial"/>
              </a:rPr>
              <a:t>3</a:t>
            </a:r>
            <a:endParaRPr/>
          </a:p>
        </p:txBody>
      </p:sp>
      <p:pic>
        <p:nvPicPr>
          <p:cNvPr id="3" name="Picture 2">
            <a:extLst>
              <a:ext uri="{FF2B5EF4-FFF2-40B4-BE49-F238E27FC236}">
                <a16:creationId xmlns:a16="http://schemas.microsoft.com/office/drawing/2014/main" id="{5F0CDE3C-B4EC-3799-3DE5-396A64F0CCFF}"/>
              </a:ext>
            </a:extLst>
          </p:cNvPr>
          <p:cNvPicPr>
            <a:picLocks noChangeAspect="1"/>
          </p:cNvPicPr>
          <p:nvPr/>
        </p:nvPicPr>
        <p:blipFill>
          <a:blip r:embed="rId3"/>
          <a:stretch>
            <a:fillRect/>
          </a:stretch>
        </p:blipFill>
        <p:spPr>
          <a:xfrm>
            <a:off x="7934774" y="1979672"/>
            <a:ext cx="2849772" cy="1662203"/>
          </a:xfrm>
          <a:prstGeom prst="rect">
            <a:avLst/>
          </a:prstGeom>
        </p:spPr>
      </p:pic>
      <p:pic>
        <p:nvPicPr>
          <p:cNvPr id="4" name="Picture 3">
            <a:extLst>
              <a:ext uri="{FF2B5EF4-FFF2-40B4-BE49-F238E27FC236}">
                <a16:creationId xmlns:a16="http://schemas.microsoft.com/office/drawing/2014/main" id="{95123CCF-2C00-6AB9-01A3-816BACE5BAA6}"/>
              </a:ext>
            </a:extLst>
          </p:cNvPr>
          <p:cNvPicPr>
            <a:picLocks noChangeAspect="1"/>
          </p:cNvPicPr>
          <p:nvPr/>
        </p:nvPicPr>
        <p:blipFill>
          <a:blip r:embed="rId4"/>
          <a:stretch>
            <a:fillRect/>
          </a:stretch>
        </p:blipFill>
        <p:spPr>
          <a:xfrm>
            <a:off x="7939627" y="3810090"/>
            <a:ext cx="2911955" cy="162446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17"/>
        <p:cNvGrpSpPr/>
        <p:nvPr/>
      </p:nvGrpSpPr>
      <p:grpSpPr>
        <a:xfrm>
          <a:off x="0" y="0"/>
          <a:ext cx="0" cy="0"/>
          <a:chOff x="0" y="0"/>
          <a:chExt cx="0" cy="0"/>
        </a:xfrm>
      </p:grpSpPr>
      <p:sp>
        <p:nvSpPr>
          <p:cNvPr id="118" name="Google Shape;118;p3"/>
          <p:cNvSpPr txBox="1"/>
          <p:nvPr/>
        </p:nvSpPr>
        <p:spPr>
          <a:xfrm>
            <a:off x="658368" y="146304"/>
            <a:ext cx="1184940"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b="1" i="0" u="none" strike="noStrike" cap="none">
                <a:solidFill>
                  <a:srgbClr val="14917D"/>
                </a:solidFill>
                <a:latin typeface="Arial"/>
                <a:ea typeface="Arial"/>
                <a:cs typeface="Arial"/>
                <a:sym typeface="Arial"/>
              </a:rPr>
              <a:t>HACKORBIT 2K26</a:t>
            </a:r>
            <a:endParaRPr sz="900" b="1" i="0" u="none" strike="noStrike" cap="none">
              <a:solidFill>
                <a:srgbClr val="14917D"/>
              </a:solidFill>
              <a:latin typeface="Arial"/>
              <a:ea typeface="Arial"/>
              <a:cs typeface="Arial"/>
              <a:sym typeface="Arial"/>
            </a:endParaRPr>
          </a:p>
        </p:txBody>
      </p:sp>
      <p:sp>
        <p:nvSpPr>
          <p:cNvPr id="119" name="Google Shape;119;p3"/>
          <p:cNvSpPr txBox="1"/>
          <p:nvPr/>
        </p:nvSpPr>
        <p:spPr>
          <a:xfrm>
            <a:off x="640080" y="438912"/>
            <a:ext cx="10881360" cy="5303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a:solidFill>
                  <a:srgbClr val="192A46"/>
                </a:solidFill>
                <a:latin typeface="Arial"/>
                <a:ea typeface="Arial"/>
                <a:cs typeface="Arial"/>
                <a:sym typeface="Arial"/>
              </a:rPr>
              <a:t>PROPOSED SOLUTION</a:t>
            </a:r>
            <a:endParaRPr/>
          </a:p>
        </p:txBody>
      </p:sp>
      <p:sp>
        <p:nvSpPr>
          <p:cNvPr id="120" name="Google Shape;120;p3"/>
          <p:cNvSpPr txBox="1"/>
          <p:nvPr/>
        </p:nvSpPr>
        <p:spPr>
          <a:xfrm>
            <a:off x="658368" y="987552"/>
            <a:ext cx="105156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697687"/>
                </a:solidFill>
                <a:latin typeface="Arial"/>
                <a:ea typeface="Arial"/>
                <a:cs typeface="Arial"/>
                <a:sym typeface="Arial"/>
              </a:rPr>
              <a:t>Explain your idea in one clear flow</a:t>
            </a:r>
            <a:endParaRPr/>
          </a:p>
        </p:txBody>
      </p:sp>
      <p:sp>
        <p:nvSpPr>
          <p:cNvPr id="121" name="Google Shape;121;p3"/>
          <p:cNvSpPr/>
          <p:nvPr/>
        </p:nvSpPr>
        <p:spPr>
          <a:xfrm>
            <a:off x="640080" y="1828800"/>
            <a:ext cx="2286000" cy="210312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2" name="Google Shape;122;p3"/>
          <p:cNvSpPr txBox="1"/>
          <p:nvPr/>
        </p:nvSpPr>
        <p:spPr>
          <a:xfrm>
            <a:off x="841247" y="1984248"/>
            <a:ext cx="18836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01  PROBLEM</a:t>
            </a:r>
            <a:endParaRPr/>
          </a:p>
        </p:txBody>
      </p:sp>
      <p:sp>
        <p:nvSpPr>
          <p:cNvPr id="123" name="Google Shape;123;p3"/>
          <p:cNvSpPr txBox="1"/>
          <p:nvPr/>
        </p:nvSpPr>
        <p:spPr>
          <a:xfrm>
            <a:off x="841247" y="2395728"/>
            <a:ext cx="1883664" cy="800179"/>
          </a:xfrm>
          <a:prstGeom prst="rect">
            <a:avLst/>
          </a:prstGeom>
          <a:noFill/>
          <a:ln>
            <a:noFill/>
          </a:ln>
        </p:spPr>
        <p:txBody>
          <a:bodyPr spcFirstLastPara="1" wrap="square" lIns="91425" tIns="45700" rIns="91425" bIns="45700" anchor="t" anchorCtr="0">
            <a:spAutoFit/>
          </a:bodyPr>
          <a:lstStyle/>
          <a:p>
            <a:r>
              <a:rPr lang="en-US" sz="1150">
                <a:solidFill>
                  <a:srgbClr val="232D3C"/>
                </a:solidFill>
              </a:rPr>
              <a:t>Handwritten notes are difficult to digitize, understand and revise efficiently.</a:t>
            </a:r>
            <a:endParaRPr lang="en-US"/>
          </a:p>
        </p:txBody>
      </p:sp>
      <p:sp>
        <p:nvSpPr>
          <p:cNvPr id="124" name="Google Shape;124;p3"/>
          <p:cNvSpPr/>
          <p:nvPr/>
        </p:nvSpPr>
        <p:spPr>
          <a:xfrm>
            <a:off x="3520440" y="1828800"/>
            <a:ext cx="2286000" cy="210312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5" name="Google Shape;125;p3"/>
          <p:cNvSpPr txBox="1"/>
          <p:nvPr/>
        </p:nvSpPr>
        <p:spPr>
          <a:xfrm>
            <a:off x="3721608" y="1984248"/>
            <a:ext cx="18836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02  SOLUTION</a:t>
            </a:r>
            <a:endParaRPr/>
          </a:p>
        </p:txBody>
      </p:sp>
      <p:sp>
        <p:nvSpPr>
          <p:cNvPr id="126" name="Google Shape;126;p3"/>
          <p:cNvSpPr txBox="1"/>
          <p:nvPr/>
        </p:nvSpPr>
        <p:spPr>
          <a:xfrm>
            <a:off x="3721608" y="2395728"/>
            <a:ext cx="1883664" cy="1546537"/>
          </a:xfrm>
          <a:prstGeom prst="rect">
            <a:avLst/>
          </a:prstGeom>
          <a:noFill/>
          <a:ln>
            <a:noFill/>
          </a:ln>
        </p:spPr>
        <p:txBody>
          <a:bodyPr spcFirstLastPara="1" wrap="square" lIns="91425" tIns="45700" rIns="91425" bIns="45700" anchor="t" anchorCtr="0">
            <a:spAutoFit/>
          </a:bodyPr>
          <a:lstStyle/>
          <a:p>
            <a:r>
              <a:rPr lang="en-US" b="1" dirty="0" err="1"/>
              <a:t>NoteWise</a:t>
            </a:r>
            <a:r>
              <a:rPr lang="en-US" b="1" dirty="0"/>
              <a:t> AI</a:t>
            </a:r>
            <a:endParaRPr lang="en-US" dirty="0"/>
          </a:p>
          <a:p>
            <a:r>
              <a:rPr lang="en-US" sz="1150">
                <a:solidFill>
                  <a:srgbClr val="232D3C"/>
                </a:solidFill>
              </a:rPr>
              <a:t>Upload or capture handwritten notes and automatically convert them into structured, concise and revision-ready study material.</a:t>
            </a:r>
            <a:endParaRPr lang="en-US"/>
          </a:p>
          <a:p>
            <a:pPr marL="0" marR="0" lvl="0" indent="0" algn="l">
              <a:spcBef>
                <a:spcPts val="0"/>
              </a:spcBef>
              <a:spcAft>
                <a:spcPts val="0"/>
              </a:spcAft>
              <a:buNone/>
            </a:pPr>
            <a:endParaRPr lang="en-US" sz="1150" dirty="0">
              <a:solidFill>
                <a:srgbClr val="232D3C"/>
              </a:solidFill>
            </a:endParaRPr>
          </a:p>
        </p:txBody>
      </p:sp>
      <p:sp>
        <p:nvSpPr>
          <p:cNvPr id="127" name="Google Shape;127;p3"/>
          <p:cNvSpPr/>
          <p:nvPr/>
        </p:nvSpPr>
        <p:spPr>
          <a:xfrm>
            <a:off x="6400800" y="1828800"/>
            <a:ext cx="2286000" cy="210312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8" name="Google Shape;128;p3"/>
          <p:cNvSpPr txBox="1"/>
          <p:nvPr/>
        </p:nvSpPr>
        <p:spPr>
          <a:xfrm>
            <a:off x="6601968" y="1984248"/>
            <a:ext cx="18836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03  TECHNOLOGY</a:t>
            </a:r>
            <a:endParaRPr/>
          </a:p>
        </p:txBody>
      </p:sp>
      <p:sp>
        <p:nvSpPr>
          <p:cNvPr id="129" name="Google Shape;129;p3"/>
          <p:cNvSpPr txBox="1"/>
          <p:nvPr/>
        </p:nvSpPr>
        <p:spPr>
          <a:xfrm>
            <a:off x="6587591" y="2323841"/>
            <a:ext cx="1920470" cy="1685036"/>
          </a:xfrm>
          <a:prstGeom prst="rect">
            <a:avLst/>
          </a:prstGeom>
          <a:noFill/>
          <a:ln>
            <a:noFill/>
          </a:ln>
        </p:spPr>
        <p:txBody>
          <a:bodyPr spcFirstLastPara="1" wrap="square" lIns="91425" tIns="45700" rIns="91425" bIns="45700" anchor="t" anchorCtr="0">
            <a:spAutoFit/>
          </a:bodyPr>
          <a:lstStyle/>
          <a:p>
            <a:r>
              <a:rPr lang="en-US" sz="1150" b="1">
                <a:solidFill>
                  <a:srgbClr val="232D3C"/>
                </a:solidFill>
              </a:rPr>
              <a:t>Image Processing + OCR + NLP + AI</a:t>
            </a:r>
            <a:endParaRPr lang="en-US"/>
          </a:p>
          <a:p>
            <a:r>
              <a:rPr lang="en-US" sz="1150">
                <a:solidFill>
                  <a:srgbClr val="232D3C"/>
                </a:solidFill>
              </a:rPr>
              <a:t>Flow:</a:t>
            </a:r>
            <a:endParaRPr lang="en-US"/>
          </a:p>
          <a:p>
            <a:r>
              <a:rPr lang="en-US" sz="1150" b="1">
                <a:solidFill>
                  <a:srgbClr val="232D3C"/>
                </a:solidFill>
              </a:rPr>
              <a:t>Handwritten Image → Preprocessing → OCR → Text Cleaning → AI Summarization → Key Concepts</a:t>
            </a:r>
            <a:endParaRPr lang="en-US"/>
          </a:p>
          <a:p>
            <a:pPr marL="0" marR="0" lvl="0" indent="0" algn="l">
              <a:spcBef>
                <a:spcPts val="0"/>
              </a:spcBef>
              <a:spcAft>
                <a:spcPts val="0"/>
              </a:spcAft>
              <a:buNone/>
            </a:pPr>
            <a:endParaRPr lang="en-US" sz="1150" dirty="0">
              <a:solidFill>
                <a:srgbClr val="232D3C"/>
              </a:solidFill>
            </a:endParaRPr>
          </a:p>
        </p:txBody>
      </p:sp>
      <p:sp>
        <p:nvSpPr>
          <p:cNvPr id="130" name="Google Shape;130;p3"/>
          <p:cNvSpPr/>
          <p:nvPr/>
        </p:nvSpPr>
        <p:spPr>
          <a:xfrm>
            <a:off x="9281160" y="1828800"/>
            <a:ext cx="2286000" cy="210312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1" name="Google Shape;131;p3"/>
          <p:cNvSpPr txBox="1"/>
          <p:nvPr/>
        </p:nvSpPr>
        <p:spPr>
          <a:xfrm>
            <a:off x="9482328" y="1984248"/>
            <a:ext cx="18836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04  OUTCOME</a:t>
            </a:r>
            <a:endParaRPr/>
          </a:p>
        </p:txBody>
      </p:sp>
      <p:sp>
        <p:nvSpPr>
          <p:cNvPr id="132" name="Google Shape;132;p3"/>
          <p:cNvSpPr txBox="1"/>
          <p:nvPr/>
        </p:nvSpPr>
        <p:spPr>
          <a:xfrm>
            <a:off x="9482328" y="2395728"/>
            <a:ext cx="1883664" cy="1154122"/>
          </a:xfrm>
          <a:prstGeom prst="rect">
            <a:avLst/>
          </a:prstGeom>
          <a:noFill/>
          <a:ln>
            <a:noFill/>
          </a:ln>
        </p:spPr>
        <p:txBody>
          <a:bodyPr spcFirstLastPara="1" wrap="square" lIns="91425" tIns="45700" rIns="91425" bIns="45700" anchor="t" anchorCtr="0">
            <a:spAutoFit/>
          </a:bodyPr>
          <a:lstStyle/>
          <a:p>
            <a:r>
              <a:rPr lang="en-US" sz="1150">
                <a:solidFill>
                  <a:srgbClr val="232D3C"/>
                </a:solidFill>
              </a:rPr>
              <a:t>A single handwritten page becomes searchable digital content with a concise summary and revision-ready learning material.</a:t>
            </a:r>
            <a:endParaRPr lang="en-US"/>
          </a:p>
        </p:txBody>
      </p:sp>
      <p:sp>
        <p:nvSpPr>
          <p:cNvPr id="133" name="Google Shape;133;p3"/>
          <p:cNvSpPr txBox="1"/>
          <p:nvPr/>
        </p:nvSpPr>
        <p:spPr>
          <a:xfrm>
            <a:off x="914400" y="4663440"/>
            <a:ext cx="10241280" cy="877123"/>
          </a:xfrm>
          <a:prstGeom prst="rect">
            <a:avLst/>
          </a:prstGeom>
          <a:noFill/>
          <a:ln>
            <a:noFill/>
          </a:ln>
        </p:spPr>
        <p:txBody>
          <a:bodyPr spcFirstLastPara="1" wrap="square" lIns="91425" tIns="45700" rIns="91425" bIns="45700" anchor="t" anchorCtr="0">
            <a:spAutoFit/>
          </a:bodyPr>
          <a:lstStyle/>
          <a:p>
            <a:pPr algn="ctr"/>
            <a:r>
              <a:rPr lang="en-US" sz="1700" dirty="0" err="1">
                <a:solidFill>
                  <a:srgbClr val="232D3C"/>
                </a:solidFill>
              </a:rPr>
              <a:t>NoteWise</a:t>
            </a:r>
            <a:r>
              <a:rPr lang="en-US" sz="1700" dirty="0">
                <a:solidFill>
                  <a:srgbClr val="232D3C"/>
                </a:solidFill>
              </a:rPr>
              <a:t> AI digitizes handwritten notes using OCR and processes the extracted content using AI/NLP. It generates a concise summary and identifies important concepts, creating </a:t>
            </a:r>
            <a:r>
              <a:rPr lang="en-US" sz="1700" b="0" i="0" u="none" strike="noStrike" cap="none" dirty="0">
                <a:solidFill>
                  <a:srgbClr val="232D3C"/>
                </a:solidFill>
                <a:latin typeface="Arial"/>
                <a:ea typeface="Arial"/>
                <a:cs typeface="Arial"/>
                <a:sym typeface="Arial"/>
              </a:rPr>
              <a:t>a </a:t>
            </a:r>
            <a:r>
              <a:rPr lang="en-US" sz="1700" dirty="0">
                <a:solidFill>
                  <a:srgbClr val="232D3C"/>
                </a:solidFill>
              </a:rPr>
              <a:t>faster path from handwritten notes to useful study material.</a:t>
            </a:r>
            <a:endParaRPr lang="en-US" dirty="0"/>
          </a:p>
        </p:txBody>
      </p:sp>
      <p:sp>
        <p:nvSpPr>
          <p:cNvPr id="134" name="Google Shape;134;p3"/>
          <p:cNvSpPr txBox="1"/>
          <p:nvPr/>
        </p:nvSpPr>
        <p:spPr>
          <a:xfrm>
            <a:off x="640080" y="6473952"/>
            <a:ext cx="5486400" cy="1828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0" i="0" u="none" strike="noStrike" cap="none">
                <a:solidFill>
                  <a:srgbClr val="697687"/>
                </a:solidFill>
                <a:latin typeface="Arial"/>
                <a:ea typeface="Arial"/>
                <a:cs typeface="Arial"/>
                <a:sym typeface="Arial"/>
              </a:rPr>
              <a:t>TEAM NAME  •  INSTITUTION</a:t>
            </a:r>
            <a:endParaRPr/>
          </a:p>
        </p:txBody>
      </p:sp>
      <p:sp>
        <p:nvSpPr>
          <p:cNvPr id="135" name="Google Shape;135;p3"/>
          <p:cNvSpPr txBox="1"/>
          <p:nvPr/>
        </p:nvSpPr>
        <p:spPr>
          <a:xfrm>
            <a:off x="11109960" y="6473952"/>
            <a:ext cx="365760" cy="18288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800" b="0" i="0" u="none" strike="noStrike" cap="none">
                <a:solidFill>
                  <a:srgbClr val="697687"/>
                </a:solidFill>
                <a:latin typeface="Arial"/>
                <a:ea typeface="Arial"/>
                <a:cs typeface="Arial"/>
                <a:sym typeface="Arial"/>
              </a:rPr>
              <a:t>4</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39"/>
        <p:cNvGrpSpPr/>
        <p:nvPr/>
      </p:nvGrpSpPr>
      <p:grpSpPr>
        <a:xfrm>
          <a:off x="0" y="0"/>
          <a:ext cx="0" cy="0"/>
          <a:chOff x="0" y="0"/>
          <a:chExt cx="0" cy="0"/>
        </a:xfrm>
      </p:grpSpPr>
      <p:sp>
        <p:nvSpPr>
          <p:cNvPr id="140" name="Google Shape;140;p4"/>
          <p:cNvSpPr txBox="1"/>
          <p:nvPr/>
        </p:nvSpPr>
        <p:spPr>
          <a:xfrm>
            <a:off x="658368" y="146304"/>
            <a:ext cx="1184940"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b="1" i="0" u="none" strike="noStrike" cap="none">
                <a:solidFill>
                  <a:srgbClr val="14917D"/>
                </a:solidFill>
                <a:latin typeface="Arial"/>
                <a:ea typeface="Arial"/>
                <a:cs typeface="Arial"/>
                <a:sym typeface="Arial"/>
              </a:rPr>
              <a:t>HACKORBIT 2K26</a:t>
            </a:r>
            <a:endParaRPr sz="900" b="1" i="0" u="none" strike="noStrike" cap="none">
              <a:solidFill>
                <a:srgbClr val="14917D"/>
              </a:solidFill>
              <a:latin typeface="Arial"/>
              <a:ea typeface="Arial"/>
              <a:cs typeface="Arial"/>
              <a:sym typeface="Arial"/>
            </a:endParaRPr>
          </a:p>
        </p:txBody>
      </p:sp>
      <p:sp>
        <p:nvSpPr>
          <p:cNvPr id="141" name="Google Shape;141;p4"/>
          <p:cNvSpPr txBox="1"/>
          <p:nvPr/>
        </p:nvSpPr>
        <p:spPr>
          <a:xfrm>
            <a:off x="640080" y="438912"/>
            <a:ext cx="10881360" cy="5303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a:solidFill>
                  <a:srgbClr val="192A46"/>
                </a:solidFill>
                <a:latin typeface="Arial"/>
                <a:ea typeface="Arial"/>
                <a:cs typeface="Arial"/>
                <a:sym typeface="Arial"/>
              </a:rPr>
              <a:t>INNOVATION &amp; USP</a:t>
            </a:r>
            <a:endParaRPr/>
          </a:p>
        </p:txBody>
      </p:sp>
      <p:sp>
        <p:nvSpPr>
          <p:cNvPr id="142" name="Google Shape;142;p4"/>
          <p:cNvSpPr txBox="1"/>
          <p:nvPr/>
        </p:nvSpPr>
        <p:spPr>
          <a:xfrm>
            <a:off x="658368" y="987552"/>
            <a:ext cx="105156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697687"/>
                </a:solidFill>
                <a:latin typeface="Arial"/>
                <a:ea typeface="Arial"/>
                <a:cs typeface="Arial"/>
                <a:sym typeface="Arial"/>
              </a:rPr>
              <a:t>What makes your solution different?</a:t>
            </a:r>
            <a:endParaRPr/>
          </a:p>
        </p:txBody>
      </p:sp>
      <p:sp>
        <p:nvSpPr>
          <p:cNvPr id="143" name="Google Shape;143;p4"/>
          <p:cNvSpPr/>
          <p:nvPr/>
        </p:nvSpPr>
        <p:spPr>
          <a:xfrm>
            <a:off x="731520" y="1508760"/>
            <a:ext cx="2743200" cy="173736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4" name="Google Shape;144;p4"/>
          <p:cNvSpPr txBox="1"/>
          <p:nvPr/>
        </p:nvSpPr>
        <p:spPr>
          <a:xfrm>
            <a:off x="932688" y="1664207"/>
            <a:ext cx="23408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AI / ML</a:t>
            </a:r>
            <a:endParaRPr/>
          </a:p>
        </p:txBody>
      </p:sp>
      <p:sp>
        <p:nvSpPr>
          <p:cNvPr id="145" name="Google Shape;145;p4"/>
          <p:cNvSpPr txBox="1"/>
          <p:nvPr/>
        </p:nvSpPr>
        <p:spPr>
          <a:xfrm>
            <a:off x="932688" y="2075688"/>
            <a:ext cx="2340864" cy="977150"/>
          </a:xfrm>
          <a:prstGeom prst="rect">
            <a:avLst/>
          </a:prstGeom>
          <a:noFill/>
          <a:ln>
            <a:noFill/>
          </a:ln>
        </p:spPr>
        <p:txBody>
          <a:bodyPr spcFirstLastPara="1" wrap="square" lIns="91425" tIns="45700" rIns="91425" bIns="45700" anchor="t" anchorCtr="0">
            <a:spAutoFit/>
          </a:bodyPr>
          <a:lstStyle/>
          <a:p>
            <a:r>
              <a:rPr lang="en-US" sz="1150">
                <a:solidFill>
                  <a:srgbClr val="232D3C"/>
                </a:solidFill>
              </a:rPr>
              <a:t>Combines handwriting OCR with NLP-based content understanding to transform raw handwritten notes into meaningful study material.</a:t>
            </a:r>
            <a:endParaRPr lang="en-US"/>
          </a:p>
        </p:txBody>
      </p:sp>
      <p:sp>
        <p:nvSpPr>
          <p:cNvPr id="146" name="Google Shape;146;p4"/>
          <p:cNvSpPr/>
          <p:nvPr/>
        </p:nvSpPr>
        <p:spPr>
          <a:xfrm>
            <a:off x="4069080" y="1508760"/>
            <a:ext cx="2743200" cy="173736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7" name="Google Shape;147;p4"/>
          <p:cNvSpPr txBox="1"/>
          <p:nvPr/>
        </p:nvSpPr>
        <p:spPr>
          <a:xfrm>
            <a:off x="4270248" y="1664207"/>
            <a:ext cx="23408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REAL-TIME</a:t>
            </a:r>
            <a:endParaRPr/>
          </a:p>
        </p:txBody>
      </p:sp>
      <p:sp>
        <p:nvSpPr>
          <p:cNvPr id="148" name="Google Shape;148;p4"/>
          <p:cNvSpPr txBox="1"/>
          <p:nvPr/>
        </p:nvSpPr>
        <p:spPr>
          <a:xfrm>
            <a:off x="4270248" y="2075689"/>
            <a:ext cx="2340864" cy="800179"/>
          </a:xfrm>
          <a:prstGeom prst="rect">
            <a:avLst/>
          </a:prstGeom>
          <a:noFill/>
          <a:ln>
            <a:noFill/>
          </a:ln>
        </p:spPr>
        <p:txBody>
          <a:bodyPr spcFirstLastPara="1" wrap="square" lIns="91425" tIns="45700" rIns="91425" bIns="45700" anchor="t" anchorCtr="0">
            <a:spAutoFit/>
          </a:bodyPr>
          <a:lstStyle/>
          <a:p>
            <a:r>
              <a:rPr lang="en-US" sz="1150" dirty="0">
                <a:solidFill>
                  <a:srgbClr val="232D3C"/>
                </a:solidFill>
              </a:rPr>
              <a:t>Processes an uploaded note and produces digitized content and a summary within a short interaction flow. </a:t>
            </a:r>
            <a:r>
              <a:rPr lang="en-US" sz="1150">
                <a:solidFill>
                  <a:srgbClr val="232D3C"/>
                </a:solidFill>
              </a:rPr>
              <a:t>.</a:t>
            </a:r>
            <a:endParaRPr lang="en-US"/>
          </a:p>
        </p:txBody>
      </p:sp>
      <p:sp>
        <p:nvSpPr>
          <p:cNvPr id="149" name="Google Shape;149;p4"/>
          <p:cNvSpPr/>
          <p:nvPr/>
        </p:nvSpPr>
        <p:spPr>
          <a:xfrm>
            <a:off x="7406640" y="1508760"/>
            <a:ext cx="2743200" cy="173736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0" name="Google Shape;150;p4"/>
          <p:cNvSpPr txBox="1"/>
          <p:nvPr/>
        </p:nvSpPr>
        <p:spPr>
          <a:xfrm>
            <a:off x="7607808" y="1664207"/>
            <a:ext cx="23408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COST EFFECTIVE</a:t>
            </a:r>
            <a:endParaRPr/>
          </a:p>
        </p:txBody>
      </p:sp>
      <p:sp>
        <p:nvSpPr>
          <p:cNvPr id="151" name="Google Shape;151;p4"/>
          <p:cNvSpPr txBox="1"/>
          <p:nvPr/>
        </p:nvSpPr>
        <p:spPr>
          <a:xfrm>
            <a:off x="7607808" y="2075688"/>
            <a:ext cx="2340864" cy="800179"/>
          </a:xfrm>
          <a:prstGeom prst="rect">
            <a:avLst/>
          </a:prstGeom>
          <a:noFill/>
          <a:ln>
            <a:noFill/>
          </a:ln>
        </p:spPr>
        <p:txBody>
          <a:bodyPr spcFirstLastPara="1" wrap="square" lIns="91425" tIns="45700" rIns="91425" bIns="45700" anchor="t" anchorCtr="0">
            <a:spAutoFit/>
          </a:bodyPr>
          <a:lstStyle/>
          <a:p>
            <a:r>
              <a:rPr lang="en-US" sz="1150">
                <a:solidFill>
                  <a:srgbClr val="232D3C"/>
                </a:solidFill>
              </a:rPr>
              <a:t>Designed using lightweight, accessible AI/ML components without requiring specialized hardware.</a:t>
            </a:r>
            <a:endParaRPr lang="en-US"/>
          </a:p>
        </p:txBody>
      </p:sp>
      <p:sp>
        <p:nvSpPr>
          <p:cNvPr id="152" name="Google Shape;152;p4"/>
          <p:cNvSpPr/>
          <p:nvPr/>
        </p:nvSpPr>
        <p:spPr>
          <a:xfrm>
            <a:off x="2377440" y="3886200"/>
            <a:ext cx="2743200" cy="173736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3" name="Google Shape;153;p4"/>
          <p:cNvSpPr txBox="1"/>
          <p:nvPr/>
        </p:nvSpPr>
        <p:spPr>
          <a:xfrm>
            <a:off x="2578608" y="4041648"/>
            <a:ext cx="23408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SCALABLE</a:t>
            </a:r>
            <a:endParaRPr/>
          </a:p>
        </p:txBody>
      </p:sp>
      <p:sp>
        <p:nvSpPr>
          <p:cNvPr id="154" name="Google Shape;154;p4"/>
          <p:cNvSpPr txBox="1"/>
          <p:nvPr/>
        </p:nvSpPr>
        <p:spPr>
          <a:xfrm>
            <a:off x="2578608" y="4453128"/>
            <a:ext cx="2340864" cy="800179"/>
          </a:xfrm>
          <a:prstGeom prst="rect">
            <a:avLst/>
          </a:prstGeom>
          <a:noFill/>
          <a:ln>
            <a:noFill/>
          </a:ln>
        </p:spPr>
        <p:txBody>
          <a:bodyPr spcFirstLastPara="1" wrap="square" lIns="91425" tIns="45700" rIns="91425" bIns="45700" anchor="t" anchorCtr="0">
            <a:spAutoFit/>
          </a:bodyPr>
          <a:lstStyle/>
          <a:p>
            <a:r>
              <a:rPr lang="en-US" sz="1150">
                <a:solidFill>
                  <a:srgbClr val="232D3C"/>
                </a:solidFill>
              </a:rPr>
              <a:t>Can expand from individual notes to multiple subjects, notebooks, languages and institutional learning resources.</a:t>
            </a:r>
            <a:endParaRPr lang="en-US"/>
          </a:p>
        </p:txBody>
      </p:sp>
      <p:sp>
        <p:nvSpPr>
          <p:cNvPr id="155" name="Google Shape;155;p4"/>
          <p:cNvSpPr/>
          <p:nvPr/>
        </p:nvSpPr>
        <p:spPr>
          <a:xfrm>
            <a:off x="5715000" y="3886200"/>
            <a:ext cx="2743200" cy="173736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6" name="Google Shape;156;p4"/>
          <p:cNvSpPr txBox="1"/>
          <p:nvPr/>
        </p:nvSpPr>
        <p:spPr>
          <a:xfrm>
            <a:off x="5916168" y="4041648"/>
            <a:ext cx="23408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USER FRIENDLY</a:t>
            </a:r>
            <a:endParaRPr/>
          </a:p>
        </p:txBody>
      </p:sp>
      <p:sp>
        <p:nvSpPr>
          <p:cNvPr id="157" name="Google Shape;157;p4"/>
          <p:cNvSpPr txBox="1"/>
          <p:nvPr/>
        </p:nvSpPr>
        <p:spPr>
          <a:xfrm>
            <a:off x="5916168" y="4453128"/>
            <a:ext cx="2340864" cy="446236"/>
          </a:xfrm>
          <a:prstGeom prst="rect">
            <a:avLst/>
          </a:prstGeom>
          <a:noFill/>
          <a:ln>
            <a:noFill/>
          </a:ln>
        </p:spPr>
        <p:txBody>
          <a:bodyPr spcFirstLastPara="1" wrap="square" lIns="91425" tIns="45700" rIns="91425" bIns="45700" anchor="t" anchorCtr="0">
            <a:spAutoFit/>
          </a:bodyPr>
          <a:lstStyle/>
          <a:p>
            <a:r>
              <a:rPr lang="en-US" sz="1150">
                <a:solidFill>
                  <a:srgbClr val="232D3C"/>
                </a:solidFill>
              </a:rPr>
              <a:t>One simple workflow: Upload → Digitize → Summarize → Revise.</a:t>
            </a:r>
            <a:endParaRPr lang="en-US"/>
          </a:p>
        </p:txBody>
      </p:sp>
      <p:sp>
        <p:nvSpPr>
          <p:cNvPr id="158" name="Google Shape;158;p4"/>
          <p:cNvSpPr txBox="1"/>
          <p:nvPr/>
        </p:nvSpPr>
        <p:spPr>
          <a:xfrm>
            <a:off x="640080" y="6473952"/>
            <a:ext cx="5486400" cy="1828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0" i="0" u="none" strike="noStrike" cap="none">
                <a:solidFill>
                  <a:srgbClr val="697687"/>
                </a:solidFill>
                <a:latin typeface="Arial"/>
                <a:ea typeface="Arial"/>
                <a:cs typeface="Arial"/>
                <a:sym typeface="Arial"/>
              </a:rPr>
              <a:t>TEAM NAME  •  INSTITUTION</a:t>
            </a:r>
            <a:endParaRPr/>
          </a:p>
        </p:txBody>
      </p:sp>
      <p:sp>
        <p:nvSpPr>
          <p:cNvPr id="159" name="Google Shape;159;p4"/>
          <p:cNvSpPr txBox="1"/>
          <p:nvPr/>
        </p:nvSpPr>
        <p:spPr>
          <a:xfrm>
            <a:off x="11109960" y="6473952"/>
            <a:ext cx="365760" cy="18288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800" b="0" i="0" u="none" strike="noStrike" cap="none">
                <a:solidFill>
                  <a:srgbClr val="697687"/>
                </a:solidFill>
                <a:latin typeface="Arial"/>
                <a:ea typeface="Arial"/>
                <a:cs typeface="Arial"/>
                <a:sym typeface="Arial"/>
              </a:rPr>
              <a:t>5</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63"/>
        <p:cNvGrpSpPr/>
        <p:nvPr/>
      </p:nvGrpSpPr>
      <p:grpSpPr>
        <a:xfrm>
          <a:off x="0" y="0"/>
          <a:ext cx="0" cy="0"/>
          <a:chOff x="0" y="0"/>
          <a:chExt cx="0" cy="0"/>
        </a:xfrm>
      </p:grpSpPr>
      <p:sp>
        <p:nvSpPr>
          <p:cNvPr id="164" name="Google Shape;164;p5"/>
          <p:cNvSpPr txBox="1"/>
          <p:nvPr/>
        </p:nvSpPr>
        <p:spPr>
          <a:xfrm>
            <a:off x="658368" y="146304"/>
            <a:ext cx="1184940"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b="1" i="0" u="none" strike="noStrike" cap="none">
                <a:solidFill>
                  <a:srgbClr val="14917D"/>
                </a:solidFill>
                <a:latin typeface="Arial"/>
                <a:ea typeface="Arial"/>
                <a:cs typeface="Arial"/>
                <a:sym typeface="Arial"/>
              </a:rPr>
              <a:t>HACKORBIT 2K26</a:t>
            </a:r>
            <a:endParaRPr sz="900" b="1" i="0" u="none" strike="noStrike" cap="none">
              <a:solidFill>
                <a:srgbClr val="14917D"/>
              </a:solidFill>
              <a:latin typeface="Arial"/>
              <a:ea typeface="Arial"/>
              <a:cs typeface="Arial"/>
              <a:sym typeface="Arial"/>
            </a:endParaRPr>
          </a:p>
        </p:txBody>
      </p:sp>
      <p:sp>
        <p:nvSpPr>
          <p:cNvPr id="165" name="Google Shape;165;p5"/>
          <p:cNvSpPr txBox="1"/>
          <p:nvPr/>
        </p:nvSpPr>
        <p:spPr>
          <a:xfrm>
            <a:off x="640080" y="438912"/>
            <a:ext cx="10881360" cy="5303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a:solidFill>
                  <a:srgbClr val="192A46"/>
                </a:solidFill>
                <a:latin typeface="Arial"/>
                <a:ea typeface="Arial"/>
                <a:cs typeface="Arial"/>
                <a:sym typeface="Arial"/>
              </a:rPr>
              <a:t>SYSTEM ARCHITECTURE</a:t>
            </a:r>
            <a:endParaRPr/>
          </a:p>
        </p:txBody>
      </p:sp>
      <p:sp>
        <p:nvSpPr>
          <p:cNvPr id="166" name="Google Shape;166;p5"/>
          <p:cNvSpPr txBox="1"/>
          <p:nvPr/>
        </p:nvSpPr>
        <p:spPr>
          <a:xfrm>
            <a:off x="658368" y="987552"/>
            <a:ext cx="105156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697687"/>
                </a:solidFill>
                <a:latin typeface="Arial"/>
                <a:ea typeface="Arial"/>
                <a:cs typeface="Arial"/>
                <a:sym typeface="Arial"/>
              </a:rPr>
              <a:t>Replace the placeholders with your architecture diagram</a:t>
            </a:r>
            <a:endParaRPr/>
          </a:p>
        </p:txBody>
      </p:sp>
      <p:sp>
        <p:nvSpPr>
          <p:cNvPr id="167" name="Google Shape;167;p5"/>
          <p:cNvSpPr/>
          <p:nvPr/>
        </p:nvSpPr>
        <p:spPr>
          <a:xfrm>
            <a:off x="731520" y="1417320"/>
            <a:ext cx="2286000" cy="114300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8" name="Google Shape;168;p5"/>
          <p:cNvSpPr txBox="1"/>
          <p:nvPr/>
        </p:nvSpPr>
        <p:spPr>
          <a:xfrm>
            <a:off x="932688" y="1572768"/>
            <a:ext cx="18836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USER</a:t>
            </a:r>
            <a:endParaRPr/>
          </a:p>
        </p:txBody>
      </p:sp>
      <p:sp>
        <p:nvSpPr>
          <p:cNvPr id="169" name="Google Shape;169;p5"/>
          <p:cNvSpPr txBox="1"/>
          <p:nvPr/>
        </p:nvSpPr>
        <p:spPr>
          <a:xfrm>
            <a:off x="889556" y="1984248"/>
            <a:ext cx="1883664" cy="269264"/>
          </a:xfrm>
          <a:prstGeom prst="rect">
            <a:avLst/>
          </a:prstGeom>
          <a:noFill/>
          <a:ln>
            <a:noFill/>
          </a:ln>
        </p:spPr>
        <p:txBody>
          <a:bodyPr spcFirstLastPara="1" wrap="square" lIns="91425" tIns="45700" rIns="91425" bIns="45700" anchor="t" anchorCtr="0">
            <a:spAutoFit/>
          </a:bodyPr>
          <a:lstStyle/>
          <a:p>
            <a:pPr marL="0" marR="0" lvl="0" indent="0" algn="l">
              <a:spcBef>
                <a:spcPts val="0"/>
              </a:spcBef>
              <a:spcAft>
                <a:spcPts val="0"/>
              </a:spcAft>
              <a:buNone/>
            </a:pPr>
            <a:r>
              <a:rPr lang="en-US" sz="1150">
                <a:solidFill>
                  <a:srgbClr val="232D3C"/>
                </a:solidFill>
              </a:rPr>
              <a:t>Student</a:t>
            </a:r>
            <a:endParaRPr lang="en-US"/>
          </a:p>
        </p:txBody>
      </p:sp>
      <p:sp>
        <p:nvSpPr>
          <p:cNvPr id="170" name="Google Shape;170;p5"/>
          <p:cNvSpPr/>
          <p:nvPr/>
        </p:nvSpPr>
        <p:spPr>
          <a:xfrm>
            <a:off x="3520440" y="1417320"/>
            <a:ext cx="2286000" cy="114300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1" name="Google Shape;171;p5"/>
          <p:cNvSpPr txBox="1"/>
          <p:nvPr/>
        </p:nvSpPr>
        <p:spPr>
          <a:xfrm>
            <a:off x="3721608" y="1572768"/>
            <a:ext cx="18836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FRONTEND</a:t>
            </a:r>
            <a:endParaRPr/>
          </a:p>
        </p:txBody>
      </p:sp>
      <p:sp>
        <p:nvSpPr>
          <p:cNvPr id="172" name="Google Shape;172;p5"/>
          <p:cNvSpPr txBox="1"/>
          <p:nvPr/>
        </p:nvSpPr>
        <p:spPr>
          <a:xfrm>
            <a:off x="3721608" y="1984248"/>
            <a:ext cx="1883664" cy="269264"/>
          </a:xfrm>
          <a:prstGeom prst="rect">
            <a:avLst/>
          </a:prstGeom>
          <a:noFill/>
          <a:ln>
            <a:noFill/>
          </a:ln>
        </p:spPr>
        <p:txBody>
          <a:bodyPr spcFirstLastPara="1" wrap="square" lIns="91425" tIns="45700" rIns="91425" bIns="45700" anchor="t" anchorCtr="0">
            <a:spAutoFit/>
          </a:bodyPr>
          <a:lstStyle/>
          <a:p>
            <a:r>
              <a:rPr lang="en-US" sz="1150">
                <a:solidFill>
                  <a:srgbClr val="232D3C"/>
                </a:solidFill>
              </a:rPr>
              <a:t>Upload +</a:t>
            </a:r>
            <a:r>
              <a:rPr lang="en-US" sz="1150" b="0" i="0" u="none" strike="noStrike" cap="none">
                <a:solidFill>
                  <a:srgbClr val="232D3C"/>
                </a:solidFill>
                <a:latin typeface="Arial"/>
                <a:ea typeface="Arial"/>
                <a:cs typeface="Arial"/>
                <a:sym typeface="Arial"/>
              </a:rPr>
              <a:t> Dashboard</a:t>
            </a:r>
            <a:endParaRPr lang="en-US"/>
          </a:p>
        </p:txBody>
      </p:sp>
      <p:sp>
        <p:nvSpPr>
          <p:cNvPr id="173" name="Google Shape;173;p5"/>
          <p:cNvSpPr/>
          <p:nvPr/>
        </p:nvSpPr>
        <p:spPr>
          <a:xfrm>
            <a:off x="6309360" y="1417320"/>
            <a:ext cx="2286000" cy="114300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4" name="Google Shape;174;p5"/>
          <p:cNvSpPr txBox="1"/>
          <p:nvPr/>
        </p:nvSpPr>
        <p:spPr>
          <a:xfrm>
            <a:off x="6510528" y="1572768"/>
            <a:ext cx="18836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BACKEND</a:t>
            </a:r>
            <a:endParaRPr/>
          </a:p>
        </p:txBody>
      </p:sp>
      <p:sp>
        <p:nvSpPr>
          <p:cNvPr id="175" name="Google Shape;175;p5"/>
          <p:cNvSpPr txBox="1"/>
          <p:nvPr/>
        </p:nvSpPr>
        <p:spPr>
          <a:xfrm>
            <a:off x="6510528" y="1984248"/>
            <a:ext cx="1883664" cy="269264"/>
          </a:xfrm>
          <a:prstGeom prst="rect">
            <a:avLst/>
          </a:prstGeom>
          <a:noFill/>
          <a:ln>
            <a:noFill/>
          </a:ln>
        </p:spPr>
        <p:txBody>
          <a:bodyPr spcFirstLastPara="1" wrap="square" lIns="91425" tIns="45700" rIns="91425" bIns="45700" anchor="t" anchorCtr="0">
            <a:spAutoFit/>
          </a:bodyPr>
          <a:lstStyle/>
          <a:p>
            <a:r>
              <a:rPr lang="en-US" sz="1150">
                <a:solidFill>
                  <a:srgbClr val="232D3C"/>
                </a:solidFill>
              </a:rPr>
              <a:t>OCR/NLP processing </a:t>
            </a:r>
            <a:r>
              <a:rPr lang="en-US" sz="1150" b="0" i="0" u="none" strike="noStrike" cap="none">
                <a:solidFill>
                  <a:srgbClr val="232D3C"/>
                </a:solidFill>
                <a:latin typeface="Arial"/>
                <a:ea typeface="Arial"/>
                <a:cs typeface="Arial"/>
                <a:sym typeface="Arial"/>
              </a:rPr>
              <a:t>API</a:t>
            </a:r>
            <a:endParaRPr lang="en-US"/>
          </a:p>
        </p:txBody>
      </p:sp>
      <p:sp>
        <p:nvSpPr>
          <p:cNvPr id="176" name="Google Shape;176;p5"/>
          <p:cNvSpPr/>
          <p:nvPr/>
        </p:nvSpPr>
        <p:spPr>
          <a:xfrm>
            <a:off x="9098280" y="1417320"/>
            <a:ext cx="2286000" cy="114300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7" name="Google Shape;177;p5"/>
          <p:cNvSpPr txBox="1"/>
          <p:nvPr/>
        </p:nvSpPr>
        <p:spPr>
          <a:xfrm>
            <a:off x="9299448" y="1572768"/>
            <a:ext cx="18836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DATABASE</a:t>
            </a:r>
            <a:endParaRPr/>
          </a:p>
        </p:txBody>
      </p:sp>
      <p:sp>
        <p:nvSpPr>
          <p:cNvPr id="178" name="Google Shape;178;p5"/>
          <p:cNvSpPr txBox="1"/>
          <p:nvPr/>
        </p:nvSpPr>
        <p:spPr>
          <a:xfrm>
            <a:off x="9299448" y="1984248"/>
            <a:ext cx="1883664" cy="446236"/>
          </a:xfrm>
          <a:prstGeom prst="rect">
            <a:avLst/>
          </a:prstGeom>
          <a:noFill/>
          <a:ln>
            <a:noFill/>
          </a:ln>
        </p:spPr>
        <p:txBody>
          <a:bodyPr spcFirstLastPara="1" wrap="square" lIns="91425" tIns="45700" rIns="91425" bIns="45700" anchor="t" anchorCtr="0">
            <a:spAutoFit/>
          </a:bodyPr>
          <a:lstStyle/>
          <a:p>
            <a:r>
              <a:rPr lang="en-US" sz="1150">
                <a:solidFill>
                  <a:srgbClr val="232D3C"/>
                </a:solidFill>
              </a:rPr>
              <a:t>Notes + extracted text + results</a:t>
            </a:r>
            <a:endParaRPr lang="en-US"/>
          </a:p>
        </p:txBody>
      </p:sp>
      <p:sp>
        <p:nvSpPr>
          <p:cNvPr id="179" name="Google Shape;179;p5"/>
          <p:cNvSpPr/>
          <p:nvPr/>
        </p:nvSpPr>
        <p:spPr>
          <a:xfrm>
            <a:off x="3520440" y="3657600"/>
            <a:ext cx="2286000" cy="114300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0" name="Google Shape;180;p5"/>
          <p:cNvSpPr txBox="1"/>
          <p:nvPr/>
        </p:nvSpPr>
        <p:spPr>
          <a:xfrm>
            <a:off x="3721608" y="3813048"/>
            <a:ext cx="18836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AI / ML</a:t>
            </a:r>
            <a:endParaRPr/>
          </a:p>
        </p:txBody>
      </p:sp>
      <p:sp>
        <p:nvSpPr>
          <p:cNvPr id="181" name="Google Shape;181;p5"/>
          <p:cNvSpPr txBox="1"/>
          <p:nvPr/>
        </p:nvSpPr>
        <p:spPr>
          <a:xfrm>
            <a:off x="3721608" y="4123886"/>
            <a:ext cx="1883664" cy="623207"/>
          </a:xfrm>
          <a:prstGeom prst="rect">
            <a:avLst/>
          </a:prstGeom>
          <a:noFill/>
          <a:ln>
            <a:noFill/>
          </a:ln>
        </p:spPr>
        <p:txBody>
          <a:bodyPr spcFirstLastPara="1" wrap="square" lIns="91425" tIns="45700" rIns="91425" bIns="45700" anchor="t" anchorCtr="0">
            <a:spAutoFit/>
          </a:bodyPr>
          <a:lstStyle/>
          <a:p>
            <a:r>
              <a:rPr lang="en-US" sz="1150">
                <a:solidFill>
                  <a:srgbClr val="232D3C"/>
                </a:solidFill>
              </a:rPr>
              <a:t>OCR + NLP + summarization + semantic retrieval</a:t>
            </a:r>
            <a:endParaRPr lang="en-US"/>
          </a:p>
        </p:txBody>
      </p:sp>
      <p:sp>
        <p:nvSpPr>
          <p:cNvPr id="182" name="Google Shape;182;p5"/>
          <p:cNvSpPr/>
          <p:nvPr/>
        </p:nvSpPr>
        <p:spPr>
          <a:xfrm>
            <a:off x="6309360" y="3657600"/>
            <a:ext cx="2286000" cy="114300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3" name="Google Shape;183;p5"/>
          <p:cNvSpPr txBox="1"/>
          <p:nvPr/>
        </p:nvSpPr>
        <p:spPr>
          <a:xfrm>
            <a:off x="6510528" y="3813048"/>
            <a:ext cx="18836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APIs</a:t>
            </a:r>
            <a:endParaRPr/>
          </a:p>
        </p:txBody>
      </p:sp>
      <p:sp>
        <p:nvSpPr>
          <p:cNvPr id="184" name="Google Shape;184;p5"/>
          <p:cNvSpPr txBox="1"/>
          <p:nvPr/>
        </p:nvSpPr>
        <p:spPr>
          <a:xfrm>
            <a:off x="6510528" y="4123886"/>
            <a:ext cx="1883664" cy="623207"/>
          </a:xfrm>
          <a:prstGeom prst="rect">
            <a:avLst/>
          </a:prstGeom>
          <a:noFill/>
          <a:ln>
            <a:noFill/>
          </a:ln>
        </p:spPr>
        <p:txBody>
          <a:bodyPr spcFirstLastPara="1" wrap="square" lIns="91425" tIns="45700" rIns="91425" bIns="45700" anchor="t" anchorCtr="0">
            <a:spAutoFit/>
          </a:bodyPr>
          <a:lstStyle/>
          <a:p>
            <a:r>
              <a:rPr lang="en-US" sz="1150" dirty="0">
                <a:solidFill>
                  <a:srgbClr val="232D3C"/>
                </a:solidFill>
              </a:rPr>
              <a:t>Only include external </a:t>
            </a:r>
            <a:r>
              <a:rPr lang="en-US" sz="1150" b="0" i="0" u="none" strike="noStrike" cap="none" dirty="0">
                <a:solidFill>
                  <a:srgbClr val="232D3C"/>
                </a:solidFill>
                <a:latin typeface="Arial"/>
                <a:ea typeface="Arial"/>
                <a:cs typeface="Arial"/>
                <a:sym typeface="Arial"/>
              </a:rPr>
              <a:t>services</a:t>
            </a:r>
            <a:r>
              <a:rPr lang="en-US" sz="1150" dirty="0">
                <a:solidFill>
                  <a:srgbClr val="232D3C"/>
                </a:solidFill>
              </a:rPr>
              <a:t> that you actually use.</a:t>
            </a:r>
            <a:endParaRPr lang="en-US" dirty="0"/>
          </a:p>
        </p:txBody>
      </p:sp>
      <p:sp>
        <p:nvSpPr>
          <p:cNvPr id="185" name="Google Shape;185;p5"/>
          <p:cNvSpPr txBox="1"/>
          <p:nvPr/>
        </p:nvSpPr>
        <p:spPr>
          <a:xfrm>
            <a:off x="2408495" y="5349240"/>
            <a:ext cx="6400800" cy="292347"/>
          </a:xfrm>
          <a:prstGeom prst="rect">
            <a:avLst/>
          </a:prstGeom>
          <a:noFill/>
          <a:ln>
            <a:noFill/>
          </a:ln>
        </p:spPr>
        <p:txBody>
          <a:bodyPr spcFirstLastPara="1" wrap="square" lIns="91425" tIns="45700" rIns="91425" bIns="45700" anchor="t" anchorCtr="0">
            <a:spAutoFit/>
          </a:bodyPr>
          <a:lstStyle/>
          <a:p>
            <a:pPr algn="ctr"/>
            <a:r>
              <a:rPr lang="en-US" sz="1300">
                <a:solidFill>
                  <a:srgbClr val="697687"/>
                </a:solidFill>
              </a:rPr>
              <a:t>USER → FRONTEND → BACKEND → AI</a:t>
            </a:r>
            <a:r>
              <a:rPr lang="en-US" sz="1300" i="0" u="none" strike="noStrike" cap="none">
                <a:solidFill>
                  <a:srgbClr val="697687"/>
                </a:solidFill>
                <a:latin typeface="Arial"/>
                <a:ea typeface="Arial"/>
                <a:cs typeface="Arial"/>
                <a:sym typeface="Arial"/>
              </a:rPr>
              <a:t>/</a:t>
            </a:r>
            <a:r>
              <a:rPr lang="en-US" sz="1300">
                <a:solidFill>
                  <a:srgbClr val="697687"/>
                </a:solidFill>
              </a:rPr>
              <a:t>ML → OUTPUT</a:t>
            </a:r>
            <a:endParaRPr lang="en-US"/>
          </a:p>
        </p:txBody>
      </p:sp>
      <p:sp>
        <p:nvSpPr>
          <p:cNvPr id="186" name="Google Shape;186;p5"/>
          <p:cNvSpPr txBox="1"/>
          <p:nvPr/>
        </p:nvSpPr>
        <p:spPr>
          <a:xfrm>
            <a:off x="11109960" y="6473952"/>
            <a:ext cx="365760" cy="18288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800" b="0" i="0" u="none" strike="noStrike" cap="none">
                <a:solidFill>
                  <a:srgbClr val="697687"/>
                </a:solidFill>
                <a:latin typeface="Arial"/>
                <a:ea typeface="Arial"/>
                <a:cs typeface="Arial"/>
                <a:sym typeface="Arial"/>
              </a:rPr>
              <a:t>6</a:t>
            </a:r>
            <a:endParaRPr/>
          </a:p>
        </p:txBody>
      </p:sp>
      <p:sp>
        <p:nvSpPr>
          <p:cNvPr id="3" name="Google Shape;182;p5">
            <a:extLst>
              <a:ext uri="{FF2B5EF4-FFF2-40B4-BE49-F238E27FC236}">
                <a16:creationId xmlns:a16="http://schemas.microsoft.com/office/drawing/2014/main" id="{61E30CCD-E9BB-2DBA-ED93-BA0A96F64CA1}"/>
              </a:ext>
            </a:extLst>
          </p:cNvPr>
          <p:cNvSpPr/>
          <p:nvPr/>
        </p:nvSpPr>
        <p:spPr>
          <a:xfrm>
            <a:off x="8997925" y="3096883"/>
            <a:ext cx="2286000" cy="3371489"/>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FD636258-B3F1-D932-22B0-B87CDB8A79D3}"/>
              </a:ext>
            </a:extLst>
          </p:cNvPr>
          <p:cNvPicPr>
            <a:picLocks noChangeAspect="1"/>
          </p:cNvPicPr>
          <p:nvPr/>
        </p:nvPicPr>
        <p:blipFill>
          <a:blip r:embed="rId3"/>
          <a:stretch>
            <a:fillRect/>
          </a:stretch>
        </p:blipFill>
        <p:spPr>
          <a:xfrm>
            <a:off x="9096889" y="3321170"/>
            <a:ext cx="2092674" cy="2976113"/>
          </a:xfrm>
          <a:prstGeom prst="rect">
            <a:avLst/>
          </a:prstGeom>
        </p:spPr>
      </p:pic>
      <p:pic>
        <p:nvPicPr>
          <p:cNvPr id="5" name="Picture 4">
            <a:extLst>
              <a:ext uri="{FF2B5EF4-FFF2-40B4-BE49-F238E27FC236}">
                <a16:creationId xmlns:a16="http://schemas.microsoft.com/office/drawing/2014/main" id="{370A46DF-100F-5B47-36DA-F1DBFD7D5526}"/>
              </a:ext>
            </a:extLst>
          </p:cNvPr>
          <p:cNvPicPr>
            <a:picLocks noChangeAspect="1"/>
          </p:cNvPicPr>
          <p:nvPr/>
        </p:nvPicPr>
        <p:blipFill>
          <a:blip r:embed="rId4"/>
          <a:stretch>
            <a:fillRect/>
          </a:stretch>
        </p:blipFill>
        <p:spPr>
          <a:xfrm>
            <a:off x="2717590" y="5642394"/>
            <a:ext cx="6181725" cy="112287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90"/>
        <p:cNvGrpSpPr/>
        <p:nvPr/>
      </p:nvGrpSpPr>
      <p:grpSpPr>
        <a:xfrm>
          <a:off x="0" y="0"/>
          <a:ext cx="0" cy="0"/>
          <a:chOff x="0" y="0"/>
          <a:chExt cx="0" cy="0"/>
        </a:xfrm>
      </p:grpSpPr>
      <p:sp>
        <p:nvSpPr>
          <p:cNvPr id="191" name="Google Shape;191;p6"/>
          <p:cNvSpPr txBox="1"/>
          <p:nvPr/>
        </p:nvSpPr>
        <p:spPr>
          <a:xfrm>
            <a:off x="658368" y="146304"/>
            <a:ext cx="1184940"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b="1" i="0" u="none" strike="noStrike" cap="none">
                <a:solidFill>
                  <a:srgbClr val="14917D"/>
                </a:solidFill>
                <a:latin typeface="Arial"/>
                <a:ea typeface="Arial"/>
                <a:cs typeface="Arial"/>
                <a:sym typeface="Arial"/>
              </a:rPr>
              <a:t>HACKORBIT 2K26</a:t>
            </a:r>
            <a:endParaRPr sz="900" b="1" i="0" u="none" strike="noStrike" cap="none">
              <a:solidFill>
                <a:srgbClr val="14917D"/>
              </a:solidFill>
              <a:latin typeface="Arial"/>
              <a:ea typeface="Arial"/>
              <a:cs typeface="Arial"/>
              <a:sym typeface="Arial"/>
            </a:endParaRPr>
          </a:p>
        </p:txBody>
      </p:sp>
      <p:sp>
        <p:nvSpPr>
          <p:cNvPr id="192" name="Google Shape;192;p6"/>
          <p:cNvSpPr txBox="1"/>
          <p:nvPr/>
        </p:nvSpPr>
        <p:spPr>
          <a:xfrm>
            <a:off x="640080" y="438912"/>
            <a:ext cx="10881360" cy="5303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a:solidFill>
                  <a:srgbClr val="192A46"/>
                </a:solidFill>
                <a:latin typeface="Arial"/>
                <a:ea typeface="Arial"/>
                <a:cs typeface="Arial"/>
                <a:sym typeface="Arial"/>
              </a:rPr>
              <a:t>TECHNOLOGY STACK</a:t>
            </a:r>
            <a:endParaRPr/>
          </a:p>
        </p:txBody>
      </p:sp>
      <p:sp>
        <p:nvSpPr>
          <p:cNvPr id="193" name="Google Shape;193;p6"/>
          <p:cNvSpPr txBox="1"/>
          <p:nvPr/>
        </p:nvSpPr>
        <p:spPr>
          <a:xfrm>
            <a:off x="658368" y="987552"/>
            <a:ext cx="105156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697687"/>
                </a:solidFill>
                <a:latin typeface="Arial"/>
                <a:ea typeface="Arial"/>
                <a:cs typeface="Arial"/>
                <a:sym typeface="Arial"/>
              </a:rPr>
              <a:t>Show only technologies actually used</a:t>
            </a:r>
            <a:endParaRPr/>
          </a:p>
        </p:txBody>
      </p:sp>
      <p:sp>
        <p:nvSpPr>
          <p:cNvPr id="194" name="Google Shape;194;p6"/>
          <p:cNvSpPr/>
          <p:nvPr/>
        </p:nvSpPr>
        <p:spPr>
          <a:xfrm>
            <a:off x="731520" y="1508760"/>
            <a:ext cx="2743200" cy="173736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5" name="Google Shape;195;p6"/>
          <p:cNvSpPr txBox="1"/>
          <p:nvPr/>
        </p:nvSpPr>
        <p:spPr>
          <a:xfrm>
            <a:off x="932688" y="1664207"/>
            <a:ext cx="23408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FRONTEND</a:t>
            </a:r>
            <a:endParaRPr/>
          </a:p>
        </p:txBody>
      </p:sp>
      <p:sp>
        <p:nvSpPr>
          <p:cNvPr id="196" name="Google Shape;196;p6"/>
          <p:cNvSpPr txBox="1"/>
          <p:nvPr/>
        </p:nvSpPr>
        <p:spPr>
          <a:xfrm>
            <a:off x="932688" y="1975046"/>
            <a:ext cx="2340864" cy="977150"/>
          </a:xfrm>
          <a:prstGeom prst="rect">
            <a:avLst/>
          </a:prstGeom>
          <a:noFill/>
          <a:ln>
            <a:noFill/>
          </a:ln>
        </p:spPr>
        <p:txBody>
          <a:bodyPr spcFirstLastPara="1" wrap="square" lIns="91425" tIns="45700" rIns="91425" bIns="45700" anchor="t" anchorCtr="0">
            <a:spAutoFit/>
          </a:bodyPr>
          <a:lstStyle/>
          <a:p>
            <a:r>
              <a:rPr lang="en-US" sz="1150" b="1" i="0" u="none" strike="noStrike" cap="none">
                <a:solidFill>
                  <a:srgbClr val="232D3C"/>
                </a:solidFill>
                <a:latin typeface="Arial"/>
                <a:ea typeface="Arial"/>
                <a:cs typeface="Arial"/>
                <a:sym typeface="Arial"/>
              </a:rPr>
              <a:t>HTML </a:t>
            </a:r>
            <a:r>
              <a:rPr lang="en-US" sz="1150" b="1">
                <a:solidFill>
                  <a:srgbClr val="232D3C"/>
                </a:solidFill>
              </a:rPr>
              <a:t>• </a:t>
            </a:r>
            <a:r>
              <a:rPr lang="en-US" sz="1150" b="1" i="0" u="none" strike="noStrike" cap="none">
                <a:solidFill>
                  <a:srgbClr val="232D3C"/>
                </a:solidFill>
                <a:latin typeface="Arial"/>
                <a:ea typeface="Arial"/>
                <a:cs typeface="Arial"/>
                <a:sym typeface="Arial"/>
              </a:rPr>
              <a:t>CSS </a:t>
            </a:r>
            <a:r>
              <a:rPr lang="en-US" sz="1150" b="1">
                <a:solidFill>
                  <a:srgbClr val="232D3C"/>
                </a:solidFill>
              </a:rPr>
              <a:t>• JavaScript</a:t>
            </a:r>
            <a:endParaRPr lang="en-US"/>
          </a:p>
          <a:p>
            <a:pPr marL="285750" indent="-285750">
              <a:buChar char="•"/>
            </a:pPr>
            <a:r>
              <a:rPr lang="en-US" sz="1150">
                <a:solidFill>
                  <a:srgbClr val="232D3C"/>
                </a:solidFill>
              </a:rPr>
              <a:t>Note upload interface </a:t>
            </a:r>
            <a:endParaRPr lang="en-US"/>
          </a:p>
          <a:p>
            <a:pPr marL="285750" indent="-285750">
              <a:buChar char="•"/>
            </a:pPr>
            <a:r>
              <a:rPr lang="en-US" sz="1150">
                <a:solidFill>
                  <a:srgbClr val="232D3C"/>
                </a:solidFill>
              </a:rPr>
              <a:t>Results dashboard </a:t>
            </a:r>
            <a:endParaRPr lang="en-US"/>
          </a:p>
          <a:p>
            <a:pPr marL="285750" indent="-285750">
              <a:buChar char="•"/>
            </a:pPr>
            <a:r>
              <a:rPr lang="en-US" sz="1150">
                <a:solidFill>
                  <a:srgbClr val="232D3C"/>
                </a:solidFill>
              </a:rPr>
              <a:t>Summary &amp; Q&amp;A display</a:t>
            </a:r>
            <a:endParaRPr lang="en-US"/>
          </a:p>
          <a:p>
            <a:pPr marL="0" marR="0" lvl="0" indent="0" algn="l">
              <a:spcBef>
                <a:spcPts val="0"/>
              </a:spcBef>
              <a:spcAft>
                <a:spcPts val="0"/>
              </a:spcAft>
              <a:buNone/>
            </a:pPr>
            <a:endParaRPr lang="en-US" sz="1150" dirty="0">
              <a:solidFill>
                <a:srgbClr val="232D3C"/>
              </a:solidFill>
            </a:endParaRPr>
          </a:p>
        </p:txBody>
      </p:sp>
      <p:sp>
        <p:nvSpPr>
          <p:cNvPr id="197" name="Google Shape;197;p6"/>
          <p:cNvSpPr/>
          <p:nvPr/>
        </p:nvSpPr>
        <p:spPr>
          <a:xfrm>
            <a:off x="4069080" y="1508760"/>
            <a:ext cx="2743200" cy="173736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8" name="Google Shape;198;p6"/>
          <p:cNvSpPr txBox="1"/>
          <p:nvPr/>
        </p:nvSpPr>
        <p:spPr>
          <a:xfrm>
            <a:off x="4270248" y="1664207"/>
            <a:ext cx="23408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BACKEND</a:t>
            </a:r>
            <a:endParaRPr/>
          </a:p>
        </p:txBody>
      </p:sp>
      <p:sp>
        <p:nvSpPr>
          <p:cNvPr id="199" name="Google Shape;199;p6"/>
          <p:cNvSpPr txBox="1"/>
          <p:nvPr/>
        </p:nvSpPr>
        <p:spPr>
          <a:xfrm>
            <a:off x="4270248" y="1975046"/>
            <a:ext cx="2340864" cy="1154122"/>
          </a:xfrm>
          <a:prstGeom prst="rect">
            <a:avLst/>
          </a:prstGeom>
          <a:noFill/>
          <a:ln>
            <a:noFill/>
          </a:ln>
        </p:spPr>
        <p:txBody>
          <a:bodyPr spcFirstLastPara="1" wrap="square" lIns="91425" tIns="45700" rIns="91425" bIns="45700" anchor="t" anchorCtr="0">
            <a:spAutoFit/>
          </a:bodyPr>
          <a:lstStyle/>
          <a:p>
            <a:r>
              <a:rPr lang="en-US" sz="1150" b="1" i="0" u="none" strike="noStrike" cap="none">
                <a:solidFill>
                  <a:srgbClr val="232D3C"/>
                </a:solidFill>
                <a:latin typeface="Arial"/>
                <a:ea typeface="Arial"/>
                <a:cs typeface="Arial"/>
                <a:sym typeface="Arial"/>
              </a:rPr>
              <a:t>Python </a:t>
            </a:r>
            <a:r>
              <a:rPr lang="en-US" sz="1150" b="1">
                <a:solidFill>
                  <a:srgbClr val="232D3C"/>
                </a:solidFill>
              </a:rPr>
              <a:t>• Flask</a:t>
            </a:r>
            <a:endParaRPr lang="en-US"/>
          </a:p>
          <a:p>
            <a:pPr marL="285750" indent="-285750">
              <a:buChar char="•"/>
            </a:pPr>
            <a:r>
              <a:rPr lang="en-US" sz="1150">
                <a:solidFill>
                  <a:srgbClr val="232D3C"/>
                </a:solidFill>
              </a:rPr>
              <a:t>Handles uploads </a:t>
            </a:r>
            <a:endParaRPr lang="en-US"/>
          </a:p>
          <a:p>
            <a:pPr marL="285750" indent="-285750">
              <a:buChar char="•"/>
            </a:pPr>
            <a:r>
              <a:rPr lang="en-US" sz="1150">
                <a:solidFill>
                  <a:srgbClr val="232D3C"/>
                </a:solidFill>
              </a:rPr>
              <a:t>Connects frontend with AI pipeline </a:t>
            </a:r>
            <a:endParaRPr lang="en-US"/>
          </a:p>
          <a:p>
            <a:pPr marL="285750" indent="-285750">
              <a:buChar char="•"/>
            </a:pPr>
            <a:r>
              <a:rPr lang="en-US" sz="1150">
                <a:solidFill>
                  <a:srgbClr val="232D3C"/>
                </a:solidFill>
              </a:rPr>
              <a:t>Processes results</a:t>
            </a:r>
            <a:endParaRPr lang="en-US"/>
          </a:p>
          <a:p>
            <a:pPr marL="0" marR="0" lvl="0" indent="0" algn="l">
              <a:spcBef>
                <a:spcPts val="0"/>
              </a:spcBef>
              <a:spcAft>
                <a:spcPts val="0"/>
              </a:spcAft>
              <a:buNone/>
            </a:pPr>
            <a:endParaRPr lang="en-US" sz="1150" dirty="0">
              <a:solidFill>
                <a:srgbClr val="232D3C"/>
              </a:solidFill>
            </a:endParaRPr>
          </a:p>
        </p:txBody>
      </p:sp>
      <p:sp>
        <p:nvSpPr>
          <p:cNvPr id="200" name="Google Shape;200;p6"/>
          <p:cNvSpPr/>
          <p:nvPr/>
        </p:nvSpPr>
        <p:spPr>
          <a:xfrm>
            <a:off x="7406640" y="1508760"/>
            <a:ext cx="2743200" cy="173736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1" name="Google Shape;201;p6"/>
          <p:cNvSpPr txBox="1"/>
          <p:nvPr/>
        </p:nvSpPr>
        <p:spPr>
          <a:xfrm>
            <a:off x="7607808" y="1664207"/>
            <a:ext cx="23408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DATABASE</a:t>
            </a:r>
            <a:endParaRPr/>
          </a:p>
        </p:txBody>
      </p:sp>
      <p:sp>
        <p:nvSpPr>
          <p:cNvPr id="202" name="Google Shape;202;p6"/>
          <p:cNvSpPr txBox="1"/>
          <p:nvPr/>
        </p:nvSpPr>
        <p:spPr>
          <a:xfrm>
            <a:off x="7607808" y="1975046"/>
            <a:ext cx="2340864" cy="1154122"/>
          </a:xfrm>
          <a:prstGeom prst="rect">
            <a:avLst/>
          </a:prstGeom>
          <a:noFill/>
          <a:ln>
            <a:noFill/>
          </a:ln>
        </p:spPr>
        <p:txBody>
          <a:bodyPr spcFirstLastPara="1" wrap="square" lIns="91425" tIns="45700" rIns="91425" bIns="45700" anchor="t" anchorCtr="0">
            <a:spAutoFit/>
          </a:bodyPr>
          <a:lstStyle/>
          <a:p>
            <a:r>
              <a:rPr lang="en-US" sz="1150" b="1">
                <a:solidFill>
                  <a:srgbClr val="232D3C"/>
                </a:solidFill>
              </a:rPr>
              <a:t>SQLite</a:t>
            </a:r>
            <a:endParaRPr lang="en-US"/>
          </a:p>
          <a:p>
            <a:pPr marL="285750" indent="-285750">
              <a:buChar char="•"/>
            </a:pPr>
            <a:r>
              <a:rPr lang="en-US" sz="1150">
                <a:solidFill>
                  <a:srgbClr val="232D3C"/>
                </a:solidFill>
              </a:rPr>
              <a:t>Notes </a:t>
            </a:r>
            <a:endParaRPr lang="en-US"/>
          </a:p>
          <a:p>
            <a:pPr marL="285750" indent="-285750">
              <a:buChar char="•"/>
            </a:pPr>
            <a:r>
              <a:rPr lang="en-US" sz="1150">
                <a:solidFill>
                  <a:srgbClr val="232D3C"/>
                </a:solidFill>
              </a:rPr>
              <a:t>Extracted text </a:t>
            </a:r>
            <a:endParaRPr lang="en-US"/>
          </a:p>
          <a:p>
            <a:pPr marL="285750" indent="-285750">
              <a:buChar char="•"/>
            </a:pPr>
            <a:r>
              <a:rPr lang="en-US" sz="1150">
                <a:solidFill>
                  <a:srgbClr val="232D3C"/>
                </a:solidFill>
              </a:rPr>
              <a:t>Summaries </a:t>
            </a:r>
            <a:endParaRPr lang="en-US"/>
          </a:p>
          <a:p>
            <a:pPr marL="285750" indent="-285750">
              <a:buChar char="•"/>
            </a:pPr>
            <a:r>
              <a:rPr lang="en-US" sz="1150">
                <a:solidFill>
                  <a:srgbClr val="232D3C"/>
                </a:solidFill>
              </a:rPr>
              <a:t>User results</a:t>
            </a:r>
            <a:endParaRPr lang="en-US"/>
          </a:p>
          <a:p>
            <a:pPr marL="0" marR="0" lvl="0" indent="0" algn="l">
              <a:spcBef>
                <a:spcPts val="0"/>
              </a:spcBef>
              <a:spcAft>
                <a:spcPts val="0"/>
              </a:spcAft>
              <a:buNone/>
            </a:pPr>
            <a:endParaRPr lang="en-US" sz="1150" dirty="0">
              <a:solidFill>
                <a:srgbClr val="232D3C"/>
              </a:solidFill>
            </a:endParaRPr>
          </a:p>
        </p:txBody>
      </p:sp>
      <p:sp>
        <p:nvSpPr>
          <p:cNvPr id="203" name="Google Shape;203;p6"/>
          <p:cNvSpPr/>
          <p:nvPr/>
        </p:nvSpPr>
        <p:spPr>
          <a:xfrm>
            <a:off x="2377440" y="3794760"/>
            <a:ext cx="2743200" cy="173736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4" name="Google Shape;204;p6"/>
          <p:cNvSpPr txBox="1"/>
          <p:nvPr/>
        </p:nvSpPr>
        <p:spPr>
          <a:xfrm>
            <a:off x="2578608" y="3950208"/>
            <a:ext cx="23408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AI / ML</a:t>
            </a:r>
            <a:endParaRPr/>
          </a:p>
        </p:txBody>
      </p:sp>
      <p:sp>
        <p:nvSpPr>
          <p:cNvPr id="205" name="Google Shape;205;p6"/>
          <p:cNvSpPr txBox="1"/>
          <p:nvPr/>
        </p:nvSpPr>
        <p:spPr>
          <a:xfrm>
            <a:off x="2578608" y="4261046"/>
            <a:ext cx="2340864" cy="1331093"/>
          </a:xfrm>
          <a:prstGeom prst="rect">
            <a:avLst/>
          </a:prstGeom>
          <a:noFill/>
          <a:ln>
            <a:noFill/>
          </a:ln>
        </p:spPr>
        <p:txBody>
          <a:bodyPr spcFirstLastPara="1" wrap="square" lIns="91425" tIns="45700" rIns="91425" bIns="45700" anchor="t" anchorCtr="0">
            <a:spAutoFit/>
          </a:bodyPr>
          <a:lstStyle/>
          <a:p>
            <a:r>
              <a:rPr lang="en-US" sz="1150" b="1">
                <a:solidFill>
                  <a:srgbClr val="232D3C"/>
                </a:solidFill>
              </a:rPr>
              <a:t>OCR • OpenCV • NLP</a:t>
            </a:r>
            <a:endParaRPr lang="en-US"/>
          </a:p>
          <a:p>
            <a:pPr marL="285750" indent="-285750">
              <a:buChar char="•"/>
            </a:pPr>
            <a:r>
              <a:rPr lang="en-US" sz="1150">
                <a:solidFill>
                  <a:srgbClr val="232D3C"/>
                </a:solidFill>
              </a:rPr>
              <a:t>Image preprocessing </a:t>
            </a:r>
            <a:endParaRPr lang="en-US"/>
          </a:p>
          <a:p>
            <a:pPr marL="285750" indent="-285750">
              <a:buChar char="•"/>
            </a:pPr>
            <a:r>
              <a:rPr lang="en-US" sz="1150">
                <a:solidFill>
                  <a:srgbClr val="232D3C"/>
                </a:solidFill>
              </a:rPr>
              <a:t>Handwriting recognition </a:t>
            </a:r>
            <a:endParaRPr lang="en-US"/>
          </a:p>
          <a:p>
            <a:pPr marL="285750" indent="-285750">
              <a:buChar char="•"/>
            </a:pPr>
            <a:r>
              <a:rPr lang="en-US" sz="1150">
                <a:solidFill>
                  <a:srgbClr val="232D3C"/>
                </a:solidFill>
              </a:rPr>
              <a:t>Text cleaning </a:t>
            </a:r>
            <a:endParaRPr lang="en-US"/>
          </a:p>
          <a:p>
            <a:pPr marL="285750" indent="-285750">
              <a:buChar char="•"/>
            </a:pPr>
            <a:r>
              <a:rPr lang="en-US" sz="1150">
                <a:solidFill>
                  <a:srgbClr val="232D3C"/>
                </a:solidFill>
              </a:rPr>
              <a:t>Summarization </a:t>
            </a:r>
            <a:endParaRPr lang="en-US"/>
          </a:p>
          <a:p>
            <a:pPr marL="285750" indent="-285750">
              <a:buChar char="•"/>
            </a:pPr>
            <a:r>
              <a:rPr lang="en-US" sz="1150">
                <a:solidFill>
                  <a:srgbClr val="232D3C"/>
                </a:solidFill>
              </a:rPr>
              <a:t>Key concept extraction</a:t>
            </a:r>
            <a:endParaRPr lang="en-US"/>
          </a:p>
          <a:p>
            <a:pPr marL="0" marR="0" lvl="0" indent="0" algn="l">
              <a:spcBef>
                <a:spcPts val="0"/>
              </a:spcBef>
              <a:spcAft>
                <a:spcPts val="0"/>
              </a:spcAft>
              <a:buNone/>
            </a:pPr>
            <a:endParaRPr lang="en-US" sz="1150" dirty="0">
              <a:solidFill>
                <a:srgbClr val="232D3C"/>
              </a:solidFill>
            </a:endParaRPr>
          </a:p>
        </p:txBody>
      </p:sp>
      <p:sp>
        <p:nvSpPr>
          <p:cNvPr id="206" name="Google Shape;206;p6"/>
          <p:cNvSpPr/>
          <p:nvPr/>
        </p:nvSpPr>
        <p:spPr>
          <a:xfrm>
            <a:off x="5715000" y="3794760"/>
            <a:ext cx="2743200" cy="2068039"/>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7" name="Google Shape;207;p6"/>
          <p:cNvSpPr txBox="1"/>
          <p:nvPr/>
        </p:nvSpPr>
        <p:spPr>
          <a:xfrm>
            <a:off x="5916168" y="3950208"/>
            <a:ext cx="23408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DEPLOYMENT</a:t>
            </a:r>
            <a:endParaRPr/>
          </a:p>
        </p:txBody>
      </p:sp>
      <p:sp>
        <p:nvSpPr>
          <p:cNvPr id="208" name="Google Shape;208;p6"/>
          <p:cNvSpPr txBox="1"/>
          <p:nvPr/>
        </p:nvSpPr>
        <p:spPr>
          <a:xfrm>
            <a:off x="5916168" y="4261046"/>
            <a:ext cx="2441505" cy="1546537"/>
          </a:xfrm>
          <a:prstGeom prst="rect">
            <a:avLst/>
          </a:prstGeom>
          <a:noFill/>
          <a:ln>
            <a:noFill/>
          </a:ln>
        </p:spPr>
        <p:txBody>
          <a:bodyPr spcFirstLastPara="1" wrap="square" lIns="91425" tIns="45700" rIns="91425" bIns="45700" anchor="t" anchorCtr="0">
            <a:spAutoFit/>
          </a:bodyPr>
          <a:lstStyle/>
          <a:p>
            <a:r>
              <a:rPr lang="en-US" sz="1150" b="1">
                <a:solidFill>
                  <a:srgbClr val="232D3C"/>
                </a:solidFill>
              </a:rPr>
              <a:t>Internal REST API</a:t>
            </a:r>
            <a:endParaRPr lang="en-US"/>
          </a:p>
          <a:p>
            <a:r>
              <a:rPr lang="en-US" sz="1150">
                <a:solidFill>
                  <a:srgbClr val="232D3C"/>
                </a:solidFill>
              </a:rPr>
              <a:t>Frontend ↔ Backend communication</a:t>
            </a:r>
          </a:p>
          <a:p>
            <a:r>
              <a:rPr lang="en-US" dirty="0"/>
              <a:t> DEPLOYMENT</a:t>
            </a:r>
            <a:endParaRPr lang="en-US"/>
          </a:p>
          <a:p>
            <a:r>
              <a:rPr lang="en-US" sz="1150" b="1" i="0" u="none" strike="noStrike" cap="none">
                <a:solidFill>
                  <a:srgbClr val="232D3C"/>
                </a:solidFill>
                <a:latin typeface="Arial"/>
                <a:ea typeface="Arial"/>
                <a:cs typeface="Arial"/>
                <a:sym typeface="Arial"/>
              </a:rPr>
              <a:t>GitHub</a:t>
            </a:r>
            <a:endParaRPr lang="en-US" b="1"/>
          </a:p>
          <a:p>
            <a:r>
              <a:rPr lang="en-US" sz="1150">
                <a:solidFill>
                  <a:srgbClr val="232D3C"/>
                </a:solidFill>
              </a:rPr>
              <a:t>For source-code management and project sharing.</a:t>
            </a:r>
            <a:endParaRPr lang="en-US"/>
          </a:p>
          <a:p>
            <a:pPr marL="0" marR="0" lvl="0" indent="0" algn="l">
              <a:spcBef>
                <a:spcPts val="0"/>
              </a:spcBef>
              <a:spcAft>
                <a:spcPts val="0"/>
              </a:spcAft>
              <a:buNone/>
            </a:pPr>
            <a:endParaRPr lang="en-US" sz="1150" dirty="0">
              <a:solidFill>
                <a:srgbClr val="232D3C"/>
              </a:solidFill>
            </a:endParaRPr>
          </a:p>
        </p:txBody>
      </p:sp>
      <p:sp>
        <p:nvSpPr>
          <p:cNvPr id="209" name="Google Shape;209;p6"/>
          <p:cNvSpPr txBox="1"/>
          <p:nvPr/>
        </p:nvSpPr>
        <p:spPr>
          <a:xfrm>
            <a:off x="11109960" y="6473952"/>
            <a:ext cx="365760" cy="18288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800" b="0" i="0" u="none" strike="noStrike" cap="none">
                <a:solidFill>
                  <a:srgbClr val="697687"/>
                </a:solidFill>
                <a:latin typeface="Arial"/>
                <a:ea typeface="Arial"/>
                <a:cs typeface="Arial"/>
                <a:sym typeface="Arial"/>
              </a:rPr>
              <a:t>7</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13"/>
        <p:cNvGrpSpPr/>
        <p:nvPr/>
      </p:nvGrpSpPr>
      <p:grpSpPr>
        <a:xfrm>
          <a:off x="0" y="0"/>
          <a:ext cx="0" cy="0"/>
          <a:chOff x="0" y="0"/>
          <a:chExt cx="0" cy="0"/>
        </a:xfrm>
      </p:grpSpPr>
      <p:sp>
        <p:nvSpPr>
          <p:cNvPr id="214" name="Google Shape;214;p7"/>
          <p:cNvSpPr txBox="1"/>
          <p:nvPr/>
        </p:nvSpPr>
        <p:spPr>
          <a:xfrm>
            <a:off x="658368" y="146304"/>
            <a:ext cx="1184940"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b="1" i="0" u="none" strike="noStrike" cap="none">
                <a:solidFill>
                  <a:srgbClr val="14917D"/>
                </a:solidFill>
                <a:latin typeface="Arial"/>
                <a:ea typeface="Arial"/>
                <a:cs typeface="Arial"/>
                <a:sym typeface="Arial"/>
              </a:rPr>
              <a:t>HACKORBIT 2K26</a:t>
            </a:r>
            <a:endParaRPr sz="900" b="1" i="0" u="none" strike="noStrike" cap="none">
              <a:solidFill>
                <a:srgbClr val="14917D"/>
              </a:solidFill>
              <a:latin typeface="Arial"/>
              <a:ea typeface="Arial"/>
              <a:cs typeface="Arial"/>
              <a:sym typeface="Arial"/>
            </a:endParaRPr>
          </a:p>
        </p:txBody>
      </p:sp>
      <p:sp>
        <p:nvSpPr>
          <p:cNvPr id="215" name="Google Shape;215;p7"/>
          <p:cNvSpPr txBox="1"/>
          <p:nvPr/>
        </p:nvSpPr>
        <p:spPr>
          <a:xfrm>
            <a:off x="640080" y="438912"/>
            <a:ext cx="1040643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a:solidFill>
                  <a:srgbClr val="192A46"/>
                </a:solidFill>
                <a:latin typeface="Arial"/>
                <a:ea typeface="Arial"/>
                <a:cs typeface="Arial"/>
                <a:sym typeface="Arial"/>
              </a:rPr>
              <a:t>PROTOTYPE / WORKING MODEL / IMPLEMENTATION PLAN</a:t>
            </a:r>
            <a:endParaRPr sz="2800" b="1" i="0" u="none" strike="noStrike" cap="none">
              <a:solidFill>
                <a:srgbClr val="192A46"/>
              </a:solidFill>
              <a:latin typeface="Arial"/>
              <a:ea typeface="Arial"/>
              <a:cs typeface="Arial"/>
              <a:sym typeface="Arial"/>
            </a:endParaRPr>
          </a:p>
        </p:txBody>
      </p:sp>
      <p:sp>
        <p:nvSpPr>
          <p:cNvPr id="216" name="Google Shape;216;p7"/>
          <p:cNvSpPr txBox="1"/>
          <p:nvPr/>
        </p:nvSpPr>
        <p:spPr>
          <a:xfrm>
            <a:off x="658368" y="987552"/>
            <a:ext cx="105156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697687"/>
                </a:solidFill>
                <a:latin typeface="Arial"/>
                <a:ea typeface="Arial"/>
                <a:cs typeface="Arial"/>
                <a:sym typeface="Arial"/>
              </a:rPr>
              <a:t>Insert screenshots of the actual implementation</a:t>
            </a:r>
            <a:endParaRPr/>
          </a:p>
        </p:txBody>
      </p:sp>
      <p:sp>
        <p:nvSpPr>
          <p:cNvPr id="217" name="Google Shape;217;p7"/>
          <p:cNvSpPr/>
          <p:nvPr/>
        </p:nvSpPr>
        <p:spPr>
          <a:xfrm>
            <a:off x="236220" y="1417320"/>
            <a:ext cx="3670300" cy="347472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8" name="Google Shape;218;p7"/>
          <p:cNvSpPr txBox="1"/>
          <p:nvPr/>
        </p:nvSpPr>
        <p:spPr>
          <a:xfrm>
            <a:off x="932688" y="1572768"/>
            <a:ext cx="23408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SCREEN 01</a:t>
            </a:r>
            <a:endParaRPr/>
          </a:p>
        </p:txBody>
      </p:sp>
      <p:sp>
        <p:nvSpPr>
          <p:cNvPr id="219" name="Google Shape;219;p7"/>
          <p:cNvSpPr txBox="1"/>
          <p:nvPr/>
        </p:nvSpPr>
        <p:spPr>
          <a:xfrm>
            <a:off x="932688" y="1984248"/>
            <a:ext cx="2340864" cy="269264"/>
          </a:xfrm>
          <a:prstGeom prst="rect">
            <a:avLst/>
          </a:prstGeom>
          <a:noFill/>
          <a:ln>
            <a:noFill/>
          </a:ln>
        </p:spPr>
        <p:txBody>
          <a:bodyPr spcFirstLastPara="1" wrap="square" lIns="91425" tIns="45700" rIns="91425" bIns="45700" anchor="t" anchorCtr="0">
            <a:spAutoFit/>
          </a:bodyPr>
          <a:lstStyle/>
          <a:p>
            <a:pPr marL="0" marR="0" lvl="0" indent="0" algn="l">
              <a:spcBef>
                <a:spcPts val="0"/>
              </a:spcBef>
              <a:spcAft>
                <a:spcPts val="0"/>
              </a:spcAft>
              <a:buNone/>
            </a:pPr>
            <a:endParaRPr lang="en-US" sz="1150" dirty="0">
              <a:solidFill>
                <a:srgbClr val="232D3C"/>
              </a:solidFill>
            </a:endParaRPr>
          </a:p>
        </p:txBody>
      </p:sp>
      <p:sp>
        <p:nvSpPr>
          <p:cNvPr id="220" name="Google Shape;220;p7"/>
          <p:cNvSpPr/>
          <p:nvPr/>
        </p:nvSpPr>
        <p:spPr>
          <a:xfrm>
            <a:off x="4069080" y="1417320"/>
            <a:ext cx="3111500" cy="347472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1" name="Google Shape;221;p7"/>
          <p:cNvSpPr txBox="1"/>
          <p:nvPr/>
        </p:nvSpPr>
        <p:spPr>
          <a:xfrm>
            <a:off x="4270248" y="1572768"/>
            <a:ext cx="23408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SCREEN 02</a:t>
            </a:r>
            <a:endParaRPr/>
          </a:p>
        </p:txBody>
      </p:sp>
      <p:sp>
        <p:nvSpPr>
          <p:cNvPr id="222" name="Google Shape;222;p7"/>
          <p:cNvSpPr txBox="1"/>
          <p:nvPr/>
        </p:nvSpPr>
        <p:spPr>
          <a:xfrm>
            <a:off x="4270248" y="1984248"/>
            <a:ext cx="2340864" cy="269264"/>
          </a:xfrm>
          <a:prstGeom prst="rect">
            <a:avLst/>
          </a:prstGeom>
          <a:noFill/>
          <a:ln>
            <a:noFill/>
          </a:ln>
        </p:spPr>
        <p:txBody>
          <a:bodyPr spcFirstLastPara="1" wrap="square" lIns="91425" tIns="45700" rIns="91425" bIns="45700" anchor="t" anchorCtr="0">
            <a:spAutoFit/>
          </a:bodyPr>
          <a:lstStyle/>
          <a:p>
            <a:endParaRPr lang="en-US" sz="1150" dirty="0">
              <a:solidFill>
                <a:srgbClr val="232D3C"/>
              </a:solidFill>
            </a:endParaRPr>
          </a:p>
        </p:txBody>
      </p:sp>
      <p:sp>
        <p:nvSpPr>
          <p:cNvPr id="223" name="Google Shape;223;p7"/>
          <p:cNvSpPr/>
          <p:nvPr/>
        </p:nvSpPr>
        <p:spPr>
          <a:xfrm>
            <a:off x="7406640" y="1417320"/>
            <a:ext cx="2743200" cy="347472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4" name="Google Shape;224;p7"/>
          <p:cNvSpPr txBox="1"/>
          <p:nvPr/>
        </p:nvSpPr>
        <p:spPr>
          <a:xfrm>
            <a:off x="7607808" y="1572768"/>
            <a:ext cx="23408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SCREEN 03</a:t>
            </a:r>
            <a:endParaRPr/>
          </a:p>
        </p:txBody>
      </p:sp>
      <p:sp>
        <p:nvSpPr>
          <p:cNvPr id="225" name="Google Shape;225;p7"/>
          <p:cNvSpPr txBox="1"/>
          <p:nvPr/>
        </p:nvSpPr>
        <p:spPr>
          <a:xfrm>
            <a:off x="7607808" y="1984248"/>
            <a:ext cx="2340864" cy="27614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50" b="0" i="0" u="none" strike="noStrike" cap="none">
                <a:solidFill>
                  <a:srgbClr val="232D3C"/>
                </a:solidFill>
                <a:latin typeface="Arial"/>
                <a:ea typeface="Arial"/>
                <a:cs typeface="Arial"/>
                <a:sym typeface="Arial"/>
              </a:rPr>
              <a:t>[Insert screenshot here]</a:t>
            </a:r>
            <a:endParaRPr/>
          </a:p>
        </p:txBody>
      </p:sp>
      <p:sp>
        <p:nvSpPr>
          <p:cNvPr id="226" name="Google Shape;226;p7"/>
          <p:cNvSpPr txBox="1"/>
          <p:nvPr/>
        </p:nvSpPr>
        <p:spPr>
          <a:xfrm>
            <a:off x="914400" y="5349240"/>
            <a:ext cx="10241280" cy="954067"/>
          </a:xfrm>
          <a:prstGeom prst="rect">
            <a:avLst/>
          </a:prstGeom>
          <a:noFill/>
          <a:ln>
            <a:noFill/>
          </a:ln>
        </p:spPr>
        <p:txBody>
          <a:bodyPr spcFirstLastPara="1" wrap="square" lIns="91425" tIns="45700" rIns="91425" bIns="45700" anchor="t" anchorCtr="0">
            <a:spAutoFit/>
          </a:bodyPr>
          <a:lstStyle/>
          <a:p>
            <a:pPr algn="ctr"/>
            <a:r>
              <a:rPr lang="en-US"/>
              <a:t>Workflow description</a:t>
            </a:r>
          </a:p>
          <a:p>
            <a:pPr algn="ctr"/>
            <a:r>
              <a:rPr lang="en-US" b="1">
                <a:solidFill>
                  <a:srgbClr val="232D3C"/>
                </a:solidFill>
              </a:rPr>
              <a:t>Upload a handwritten page → extract and clean </a:t>
            </a:r>
            <a:r>
              <a:rPr lang="en-US" sz="1400" b="1" i="0" u="none" strike="noStrike" cap="none">
                <a:solidFill>
                  <a:srgbClr val="232D3C"/>
                </a:solidFill>
                <a:latin typeface="Arial"/>
                <a:ea typeface="Arial"/>
                <a:cs typeface="Arial"/>
                <a:sym typeface="Arial"/>
              </a:rPr>
              <a:t>the </a:t>
            </a:r>
            <a:r>
              <a:rPr lang="en-US" b="1">
                <a:solidFill>
                  <a:srgbClr val="232D3C"/>
                </a:solidFill>
              </a:rPr>
              <a:t>text → generate a concise summary and </a:t>
            </a:r>
            <a:r>
              <a:rPr lang="en-US" sz="1400" b="1" i="0" u="none" strike="noStrike" cap="none">
                <a:solidFill>
                  <a:srgbClr val="232D3C"/>
                </a:solidFill>
                <a:latin typeface="Arial"/>
                <a:ea typeface="Arial"/>
                <a:cs typeface="Arial"/>
                <a:sym typeface="Arial"/>
              </a:rPr>
              <a:t>key </a:t>
            </a:r>
            <a:r>
              <a:rPr lang="en-US" b="1">
                <a:solidFill>
                  <a:srgbClr val="232D3C"/>
                </a:solidFill>
              </a:rPr>
              <a:t>concepts → create revision-ready learning content.</a:t>
            </a:r>
            <a:endParaRPr lang="en-US"/>
          </a:p>
          <a:p>
            <a:pPr algn="ctr"/>
            <a:endParaRPr lang="en-US" dirty="0">
              <a:solidFill>
                <a:srgbClr val="232D3C"/>
              </a:solidFill>
            </a:endParaRPr>
          </a:p>
        </p:txBody>
      </p:sp>
      <p:sp>
        <p:nvSpPr>
          <p:cNvPr id="227" name="Google Shape;227;p7"/>
          <p:cNvSpPr txBox="1"/>
          <p:nvPr/>
        </p:nvSpPr>
        <p:spPr>
          <a:xfrm>
            <a:off x="11109960" y="6473952"/>
            <a:ext cx="365760" cy="18288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800" b="0" i="0" u="none" strike="noStrike" cap="none">
                <a:solidFill>
                  <a:srgbClr val="697687"/>
                </a:solidFill>
                <a:latin typeface="Arial"/>
                <a:ea typeface="Arial"/>
                <a:cs typeface="Arial"/>
                <a:sym typeface="Arial"/>
              </a:rPr>
              <a:t>8</a:t>
            </a:r>
            <a:endParaRPr/>
          </a:p>
        </p:txBody>
      </p:sp>
      <p:pic>
        <p:nvPicPr>
          <p:cNvPr id="2" name="Picture 1">
            <a:extLst>
              <a:ext uri="{FF2B5EF4-FFF2-40B4-BE49-F238E27FC236}">
                <a16:creationId xmlns:a16="http://schemas.microsoft.com/office/drawing/2014/main" id="{785AC28A-347A-10DF-8CCB-22EB67ACE952}"/>
              </a:ext>
            </a:extLst>
          </p:cNvPr>
          <p:cNvPicPr>
            <a:picLocks noChangeAspect="1"/>
          </p:cNvPicPr>
          <p:nvPr/>
        </p:nvPicPr>
        <p:blipFill>
          <a:blip r:embed="rId3"/>
          <a:stretch>
            <a:fillRect/>
          </a:stretch>
        </p:blipFill>
        <p:spPr>
          <a:xfrm>
            <a:off x="4064803" y="1892300"/>
            <a:ext cx="3033693" cy="2857500"/>
          </a:xfrm>
          <a:prstGeom prst="rect">
            <a:avLst/>
          </a:prstGeom>
        </p:spPr>
      </p:pic>
      <p:pic>
        <p:nvPicPr>
          <p:cNvPr id="4" name="Picture 3">
            <a:extLst>
              <a:ext uri="{FF2B5EF4-FFF2-40B4-BE49-F238E27FC236}">
                <a16:creationId xmlns:a16="http://schemas.microsoft.com/office/drawing/2014/main" id="{E92704C4-31D4-410A-B0E6-F724BB3CAE34}"/>
              </a:ext>
            </a:extLst>
          </p:cNvPr>
          <p:cNvPicPr>
            <a:picLocks noChangeAspect="1"/>
          </p:cNvPicPr>
          <p:nvPr/>
        </p:nvPicPr>
        <p:blipFill>
          <a:blip r:embed="rId4"/>
          <a:stretch>
            <a:fillRect/>
          </a:stretch>
        </p:blipFill>
        <p:spPr>
          <a:xfrm>
            <a:off x="319088" y="2027238"/>
            <a:ext cx="3489325" cy="2600325"/>
          </a:xfrm>
          <a:prstGeom prst="rect">
            <a:avLst/>
          </a:prstGeom>
        </p:spPr>
      </p:pic>
      <p:pic>
        <p:nvPicPr>
          <p:cNvPr id="5" name="Picture 4">
            <a:extLst>
              <a:ext uri="{FF2B5EF4-FFF2-40B4-BE49-F238E27FC236}">
                <a16:creationId xmlns:a16="http://schemas.microsoft.com/office/drawing/2014/main" id="{F93F2E9E-C010-13C0-8324-3CC7C622ACC3}"/>
              </a:ext>
            </a:extLst>
          </p:cNvPr>
          <p:cNvPicPr>
            <a:picLocks noChangeAspect="1"/>
          </p:cNvPicPr>
          <p:nvPr/>
        </p:nvPicPr>
        <p:blipFill>
          <a:blip r:embed="rId5"/>
          <a:stretch>
            <a:fillRect/>
          </a:stretch>
        </p:blipFill>
        <p:spPr>
          <a:xfrm>
            <a:off x="7604125" y="1889125"/>
            <a:ext cx="2190750" cy="29527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31"/>
        <p:cNvGrpSpPr/>
        <p:nvPr/>
      </p:nvGrpSpPr>
      <p:grpSpPr>
        <a:xfrm>
          <a:off x="0" y="0"/>
          <a:ext cx="0" cy="0"/>
          <a:chOff x="0" y="0"/>
          <a:chExt cx="0" cy="0"/>
        </a:xfrm>
      </p:grpSpPr>
      <p:sp>
        <p:nvSpPr>
          <p:cNvPr id="232" name="Google Shape;232;p8"/>
          <p:cNvSpPr txBox="1"/>
          <p:nvPr/>
        </p:nvSpPr>
        <p:spPr>
          <a:xfrm>
            <a:off x="658368" y="146304"/>
            <a:ext cx="1184940"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b="1" i="0" u="none" strike="noStrike" cap="none">
                <a:solidFill>
                  <a:srgbClr val="14917D"/>
                </a:solidFill>
                <a:latin typeface="Arial"/>
                <a:ea typeface="Arial"/>
                <a:cs typeface="Arial"/>
                <a:sym typeface="Arial"/>
              </a:rPr>
              <a:t>HACKORBIT 2K26</a:t>
            </a:r>
            <a:endParaRPr sz="900" b="1" i="0" u="none" strike="noStrike" cap="none">
              <a:solidFill>
                <a:srgbClr val="14917D"/>
              </a:solidFill>
              <a:latin typeface="Arial"/>
              <a:ea typeface="Arial"/>
              <a:cs typeface="Arial"/>
              <a:sym typeface="Arial"/>
            </a:endParaRPr>
          </a:p>
        </p:txBody>
      </p:sp>
      <p:sp>
        <p:nvSpPr>
          <p:cNvPr id="233" name="Google Shape;233;p8"/>
          <p:cNvSpPr txBox="1"/>
          <p:nvPr/>
        </p:nvSpPr>
        <p:spPr>
          <a:xfrm>
            <a:off x="640080" y="438912"/>
            <a:ext cx="10881360" cy="5303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a:solidFill>
                  <a:srgbClr val="192A46"/>
                </a:solidFill>
                <a:latin typeface="Arial"/>
                <a:ea typeface="Arial"/>
                <a:cs typeface="Arial"/>
                <a:sym typeface="Arial"/>
              </a:rPr>
              <a:t>IMPACT &amp; BENEFITS</a:t>
            </a:r>
            <a:endParaRPr/>
          </a:p>
        </p:txBody>
      </p:sp>
      <p:sp>
        <p:nvSpPr>
          <p:cNvPr id="234" name="Google Shape;234;p8"/>
          <p:cNvSpPr txBox="1"/>
          <p:nvPr/>
        </p:nvSpPr>
        <p:spPr>
          <a:xfrm>
            <a:off x="658368" y="987552"/>
            <a:ext cx="105156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697687"/>
                </a:solidFill>
                <a:latin typeface="Arial"/>
                <a:ea typeface="Arial"/>
                <a:cs typeface="Arial"/>
                <a:sym typeface="Arial"/>
              </a:rPr>
              <a:t>Quantify the expected value wherever possible</a:t>
            </a:r>
            <a:endParaRPr/>
          </a:p>
        </p:txBody>
      </p:sp>
      <p:sp>
        <p:nvSpPr>
          <p:cNvPr id="235" name="Google Shape;235;p8"/>
          <p:cNvSpPr/>
          <p:nvPr/>
        </p:nvSpPr>
        <p:spPr>
          <a:xfrm>
            <a:off x="731520" y="1508760"/>
            <a:ext cx="2286000" cy="182880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6" name="Google Shape;236;p8"/>
          <p:cNvSpPr txBox="1"/>
          <p:nvPr/>
        </p:nvSpPr>
        <p:spPr>
          <a:xfrm>
            <a:off x="932688" y="1664207"/>
            <a:ext cx="18836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XX%</a:t>
            </a:r>
            <a:endParaRPr/>
          </a:p>
        </p:txBody>
      </p:sp>
      <p:sp>
        <p:nvSpPr>
          <p:cNvPr id="237" name="Google Shape;237;p8"/>
          <p:cNvSpPr txBox="1"/>
          <p:nvPr/>
        </p:nvSpPr>
        <p:spPr>
          <a:xfrm>
            <a:off x="932688" y="2075688"/>
            <a:ext cx="1883664" cy="446236"/>
          </a:xfrm>
          <a:prstGeom prst="rect">
            <a:avLst/>
          </a:prstGeom>
          <a:noFill/>
          <a:ln>
            <a:noFill/>
          </a:ln>
        </p:spPr>
        <p:txBody>
          <a:bodyPr spcFirstLastPara="1" wrap="square" lIns="91425" tIns="45700" rIns="91425" bIns="45700" anchor="t" anchorCtr="0">
            <a:spAutoFit/>
          </a:bodyPr>
          <a:lstStyle/>
          <a:p>
            <a:r>
              <a:rPr lang="en-US" sz="1150">
                <a:solidFill>
                  <a:srgbClr val="232D3C"/>
                </a:solidFill>
              </a:rPr>
              <a:t>Handwritten input</a:t>
            </a:r>
            <a:endParaRPr lang="en-US"/>
          </a:p>
          <a:p>
            <a:r>
              <a:rPr lang="en-US" sz="1150">
                <a:solidFill>
                  <a:srgbClr val="232D3C"/>
                </a:solidFill>
              </a:rPr>
              <a:t>-Time</a:t>
            </a:r>
            <a:r>
              <a:rPr lang="en-US" sz="1150" b="0" i="0" u="none" strike="noStrike" cap="none">
                <a:solidFill>
                  <a:srgbClr val="232D3C"/>
                </a:solidFill>
                <a:latin typeface="Arial"/>
                <a:ea typeface="Arial"/>
                <a:cs typeface="Arial"/>
                <a:sym typeface="Arial"/>
              </a:rPr>
              <a:t> saved</a:t>
            </a:r>
            <a:endParaRPr lang="en-US"/>
          </a:p>
        </p:txBody>
      </p:sp>
      <p:sp>
        <p:nvSpPr>
          <p:cNvPr id="238" name="Google Shape;238;p8"/>
          <p:cNvSpPr/>
          <p:nvPr/>
        </p:nvSpPr>
        <p:spPr>
          <a:xfrm>
            <a:off x="3520440" y="1508760"/>
            <a:ext cx="2286000" cy="182880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9" name="Google Shape;239;p8"/>
          <p:cNvSpPr txBox="1"/>
          <p:nvPr/>
        </p:nvSpPr>
        <p:spPr>
          <a:xfrm>
            <a:off x="3721608" y="1664207"/>
            <a:ext cx="1883664" cy="492402"/>
          </a:xfrm>
          <a:prstGeom prst="rect">
            <a:avLst/>
          </a:prstGeom>
          <a:noFill/>
          <a:ln>
            <a:noFill/>
          </a:ln>
        </p:spPr>
        <p:txBody>
          <a:bodyPr spcFirstLastPara="1" wrap="square" lIns="91425" tIns="45700" rIns="91425" bIns="45700" anchor="t" anchorCtr="0">
            <a:spAutoFit/>
          </a:bodyPr>
          <a:lstStyle/>
          <a:p>
            <a:r>
              <a:rPr lang="en-US" sz="1200" b="1">
                <a:solidFill>
                  <a:srgbClr val="232D3C"/>
                </a:solidFill>
              </a:rPr>
              <a:t>4+ OUTPUTS</a:t>
            </a:r>
            <a:endParaRPr lang="en-US" sz="1200"/>
          </a:p>
          <a:p>
            <a:pPr marL="0" marR="0" lvl="0" indent="0" algn="l">
              <a:spcBef>
                <a:spcPts val="0"/>
              </a:spcBef>
              <a:spcAft>
                <a:spcPts val="0"/>
              </a:spcAft>
              <a:buNone/>
            </a:pPr>
            <a:endParaRPr lang="en-US" b="1" dirty="0">
              <a:solidFill>
                <a:srgbClr val="14917D"/>
              </a:solidFill>
            </a:endParaRPr>
          </a:p>
        </p:txBody>
      </p:sp>
      <p:sp>
        <p:nvSpPr>
          <p:cNvPr id="240" name="Google Shape;240;p8"/>
          <p:cNvSpPr txBox="1"/>
          <p:nvPr/>
        </p:nvSpPr>
        <p:spPr>
          <a:xfrm>
            <a:off x="3721608" y="2075688"/>
            <a:ext cx="1883664" cy="623207"/>
          </a:xfrm>
          <a:prstGeom prst="rect">
            <a:avLst/>
          </a:prstGeom>
          <a:noFill/>
          <a:ln>
            <a:noFill/>
          </a:ln>
        </p:spPr>
        <p:txBody>
          <a:bodyPr spcFirstLastPara="1" wrap="square" lIns="91425" tIns="45700" rIns="91425" bIns="45700" anchor="t" anchorCtr="0">
            <a:spAutoFit/>
          </a:bodyPr>
          <a:lstStyle/>
          <a:p>
            <a:r>
              <a:rPr lang="en-US" sz="1150" b="1">
                <a:solidFill>
                  <a:srgbClr val="232D3C"/>
                </a:solidFill>
              </a:rPr>
              <a:t>Text • Summary • Key Concepts • Revision</a:t>
            </a:r>
            <a:endParaRPr lang="en-US"/>
          </a:p>
          <a:p>
            <a:r>
              <a:rPr lang="en-US" sz="1150">
                <a:solidFill>
                  <a:srgbClr val="232D3C"/>
                </a:solidFill>
              </a:rPr>
              <a:t>-</a:t>
            </a:r>
            <a:r>
              <a:rPr lang="en-US" sz="1150" b="0" i="0" u="none" strike="noStrike" cap="none">
                <a:solidFill>
                  <a:srgbClr val="232D3C"/>
                </a:solidFill>
                <a:latin typeface="Arial"/>
                <a:ea typeface="Arial"/>
                <a:cs typeface="Arial"/>
                <a:sym typeface="Arial"/>
              </a:rPr>
              <a:t>Cost reduced</a:t>
            </a:r>
            <a:endParaRPr/>
          </a:p>
        </p:txBody>
      </p:sp>
      <p:sp>
        <p:nvSpPr>
          <p:cNvPr id="241" name="Google Shape;241;p8"/>
          <p:cNvSpPr/>
          <p:nvPr/>
        </p:nvSpPr>
        <p:spPr>
          <a:xfrm>
            <a:off x="6309360" y="1508760"/>
            <a:ext cx="2286000" cy="182880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42" name="Google Shape;242;p8"/>
          <p:cNvSpPr txBox="1"/>
          <p:nvPr/>
        </p:nvSpPr>
        <p:spPr>
          <a:xfrm>
            <a:off x="6510528" y="1664207"/>
            <a:ext cx="1883664" cy="307736"/>
          </a:xfrm>
          <a:prstGeom prst="rect">
            <a:avLst/>
          </a:prstGeom>
          <a:noFill/>
          <a:ln>
            <a:noFill/>
          </a:ln>
        </p:spPr>
        <p:txBody>
          <a:bodyPr spcFirstLastPara="1" wrap="square" lIns="91425" tIns="45700" rIns="91425" bIns="45700" anchor="t" anchorCtr="0">
            <a:spAutoFit/>
          </a:bodyPr>
          <a:lstStyle/>
          <a:p>
            <a:r>
              <a:rPr lang="en-US">
                <a:solidFill>
                  <a:srgbClr val="14917D"/>
                </a:solidFill>
              </a:rPr>
              <a:t>On-demand access</a:t>
            </a:r>
            <a:endParaRPr lang="en-US"/>
          </a:p>
        </p:txBody>
      </p:sp>
      <p:sp>
        <p:nvSpPr>
          <p:cNvPr id="243" name="Google Shape;243;p8"/>
          <p:cNvSpPr txBox="1"/>
          <p:nvPr/>
        </p:nvSpPr>
        <p:spPr>
          <a:xfrm>
            <a:off x="6510528" y="2075688"/>
            <a:ext cx="1883664" cy="111556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50" b="0" i="0" u="none" strike="noStrike" cap="none">
                <a:solidFill>
                  <a:srgbClr val="232D3C"/>
                </a:solidFill>
                <a:latin typeface="Arial"/>
                <a:ea typeface="Arial"/>
                <a:cs typeface="Arial"/>
                <a:sym typeface="Arial"/>
              </a:rPr>
              <a:t>Target users</a:t>
            </a:r>
            <a:endParaRPr/>
          </a:p>
        </p:txBody>
      </p:sp>
      <p:sp>
        <p:nvSpPr>
          <p:cNvPr id="244" name="Google Shape;244;p8"/>
          <p:cNvSpPr/>
          <p:nvPr/>
        </p:nvSpPr>
        <p:spPr>
          <a:xfrm>
            <a:off x="9098280" y="1508760"/>
            <a:ext cx="2286000" cy="182880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45" name="Google Shape;245;p8"/>
          <p:cNvSpPr txBox="1"/>
          <p:nvPr/>
        </p:nvSpPr>
        <p:spPr>
          <a:xfrm>
            <a:off x="9299448" y="1664207"/>
            <a:ext cx="188366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24/7</a:t>
            </a:r>
            <a:endParaRPr/>
          </a:p>
        </p:txBody>
      </p:sp>
      <p:sp>
        <p:nvSpPr>
          <p:cNvPr id="246" name="Google Shape;246;p8"/>
          <p:cNvSpPr txBox="1"/>
          <p:nvPr/>
        </p:nvSpPr>
        <p:spPr>
          <a:xfrm>
            <a:off x="9299448" y="2075688"/>
            <a:ext cx="1883664" cy="269264"/>
          </a:xfrm>
          <a:prstGeom prst="rect">
            <a:avLst/>
          </a:prstGeom>
          <a:noFill/>
          <a:ln>
            <a:noFill/>
          </a:ln>
        </p:spPr>
        <p:txBody>
          <a:bodyPr spcFirstLastPara="1" wrap="square" lIns="91425" tIns="45700" rIns="91425" bIns="45700" anchor="t" anchorCtr="0">
            <a:spAutoFit/>
          </a:bodyPr>
          <a:lstStyle/>
          <a:p>
            <a:r>
              <a:rPr lang="en-US" sz="1150" b="0" i="0" u="none" strike="noStrike" cap="none">
                <a:solidFill>
                  <a:srgbClr val="232D3C"/>
                </a:solidFill>
                <a:latin typeface="Arial"/>
                <a:ea typeface="Arial"/>
                <a:cs typeface="Arial"/>
                <a:sym typeface="Arial"/>
              </a:rPr>
              <a:t>Availability</a:t>
            </a:r>
            <a:endParaRPr lang="en-US"/>
          </a:p>
        </p:txBody>
      </p:sp>
      <p:sp>
        <p:nvSpPr>
          <p:cNvPr id="247" name="Google Shape;247;p8"/>
          <p:cNvSpPr/>
          <p:nvPr/>
        </p:nvSpPr>
        <p:spPr>
          <a:xfrm>
            <a:off x="1554480" y="3977639"/>
            <a:ext cx="2926080" cy="150876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48" name="Google Shape;248;p8"/>
          <p:cNvSpPr txBox="1"/>
          <p:nvPr/>
        </p:nvSpPr>
        <p:spPr>
          <a:xfrm>
            <a:off x="1755648" y="4133087"/>
            <a:ext cx="252374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SOCIAL IMPACT</a:t>
            </a:r>
            <a:endParaRPr/>
          </a:p>
        </p:txBody>
      </p:sp>
      <p:sp>
        <p:nvSpPr>
          <p:cNvPr id="249" name="Google Shape;249;p8"/>
          <p:cNvSpPr txBox="1"/>
          <p:nvPr/>
        </p:nvSpPr>
        <p:spPr>
          <a:xfrm>
            <a:off x="1755648" y="4544568"/>
            <a:ext cx="2523744" cy="623207"/>
          </a:xfrm>
          <a:prstGeom prst="rect">
            <a:avLst/>
          </a:prstGeom>
          <a:noFill/>
          <a:ln>
            <a:noFill/>
          </a:ln>
        </p:spPr>
        <p:txBody>
          <a:bodyPr spcFirstLastPara="1" wrap="square" lIns="91425" tIns="45700" rIns="91425" bIns="45700" anchor="t" anchorCtr="0">
            <a:spAutoFit/>
          </a:bodyPr>
          <a:lstStyle/>
          <a:p>
            <a:r>
              <a:rPr lang="en-US" sz="1150">
                <a:solidFill>
                  <a:srgbClr val="232D3C"/>
                </a:solidFill>
              </a:rPr>
              <a:t>Makes handwritten academic knowledge easier to access, search and revise.</a:t>
            </a:r>
            <a:endParaRPr lang="en-US"/>
          </a:p>
        </p:txBody>
      </p:sp>
      <p:sp>
        <p:nvSpPr>
          <p:cNvPr id="250" name="Google Shape;250;p8"/>
          <p:cNvSpPr/>
          <p:nvPr/>
        </p:nvSpPr>
        <p:spPr>
          <a:xfrm>
            <a:off x="4617720" y="3977639"/>
            <a:ext cx="2926080" cy="150876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1" name="Google Shape;251;p8"/>
          <p:cNvSpPr txBox="1"/>
          <p:nvPr/>
        </p:nvSpPr>
        <p:spPr>
          <a:xfrm>
            <a:off x="4818888" y="4133087"/>
            <a:ext cx="252374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ECONOMIC IMPACT</a:t>
            </a:r>
            <a:endParaRPr/>
          </a:p>
        </p:txBody>
      </p:sp>
      <p:sp>
        <p:nvSpPr>
          <p:cNvPr id="252" name="Google Shape;252;p8"/>
          <p:cNvSpPr txBox="1"/>
          <p:nvPr/>
        </p:nvSpPr>
        <p:spPr>
          <a:xfrm>
            <a:off x="4818888" y="4544568"/>
            <a:ext cx="2523744" cy="623207"/>
          </a:xfrm>
          <a:prstGeom prst="rect">
            <a:avLst/>
          </a:prstGeom>
          <a:noFill/>
          <a:ln>
            <a:noFill/>
          </a:ln>
        </p:spPr>
        <p:txBody>
          <a:bodyPr spcFirstLastPara="1" wrap="square" lIns="91425" tIns="45700" rIns="91425" bIns="45700" anchor="t" anchorCtr="0">
            <a:spAutoFit/>
          </a:bodyPr>
          <a:lstStyle/>
          <a:p>
            <a:r>
              <a:rPr lang="en-US" sz="1150">
                <a:solidFill>
                  <a:srgbClr val="232D3C"/>
                </a:solidFill>
              </a:rPr>
              <a:t>Reduces repetitive manual effort involved in typing and organizing handwritten study material.</a:t>
            </a:r>
            <a:endParaRPr lang="en-US"/>
          </a:p>
        </p:txBody>
      </p:sp>
      <p:sp>
        <p:nvSpPr>
          <p:cNvPr id="253" name="Google Shape;253;p8"/>
          <p:cNvSpPr/>
          <p:nvPr/>
        </p:nvSpPr>
        <p:spPr>
          <a:xfrm>
            <a:off x="7680960" y="3977639"/>
            <a:ext cx="2926080" cy="150876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4" name="Google Shape;254;p8"/>
          <p:cNvSpPr txBox="1"/>
          <p:nvPr/>
        </p:nvSpPr>
        <p:spPr>
          <a:xfrm>
            <a:off x="7882128" y="4133087"/>
            <a:ext cx="252374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SCALABILITY</a:t>
            </a:r>
            <a:endParaRPr/>
          </a:p>
        </p:txBody>
      </p:sp>
      <p:sp>
        <p:nvSpPr>
          <p:cNvPr id="255" name="Google Shape;255;p8"/>
          <p:cNvSpPr txBox="1"/>
          <p:nvPr/>
        </p:nvSpPr>
        <p:spPr>
          <a:xfrm>
            <a:off x="7882128" y="4544568"/>
            <a:ext cx="2523744" cy="800179"/>
          </a:xfrm>
          <a:prstGeom prst="rect">
            <a:avLst/>
          </a:prstGeom>
          <a:noFill/>
          <a:ln>
            <a:noFill/>
          </a:ln>
        </p:spPr>
        <p:txBody>
          <a:bodyPr spcFirstLastPara="1" wrap="square" lIns="91425" tIns="45700" rIns="91425" bIns="45700" anchor="t" anchorCtr="0">
            <a:spAutoFit/>
          </a:bodyPr>
          <a:lstStyle/>
          <a:p>
            <a:r>
              <a:rPr lang="en-US" sz="1150">
                <a:solidFill>
                  <a:srgbClr val="232D3C"/>
                </a:solidFill>
              </a:rPr>
              <a:t>Can expand to multiple subjects, regional-language handwriting, mobile capture and institutional learning platforms.</a:t>
            </a:r>
            <a:endParaRPr lang="en-US"/>
          </a:p>
        </p:txBody>
      </p:sp>
      <p:sp>
        <p:nvSpPr>
          <p:cNvPr id="256" name="Google Shape;256;p8"/>
          <p:cNvSpPr txBox="1"/>
          <p:nvPr/>
        </p:nvSpPr>
        <p:spPr>
          <a:xfrm>
            <a:off x="11109960" y="6473952"/>
            <a:ext cx="365760" cy="18288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800" b="0" i="0" u="none" strike="noStrike" cap="none">
                <a:solidFill>
                  <a:srgbClr val="697687"/>
                </a:solidFill>
                <a:latin typeface="Arial"/>
                <a:ea typeface="Arial"/>
                <a:cs typeface="Arial"/>
                <a:sym typeface="Arial"/>
              </a:rPr>
              <a:t>9</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60"/>
        <p:cNvGrpSpPr/>
        <p:nvPr/>
      </p:nvGrpSpPr>
      <p:grpSpPr>
        <a:xfrm>
          <a:off x="0" y="0"/>
          <a:ext cx="0" cy="0"/>
          <a:chOff x="0" y="0"/>
          <a:chExt cx="0" cy="0"/>
        </a:xfrm>
      </p:grpSpPr>
      <p:sp>
        <p:nvSpPr>
          <p:cNvPr id="261" name="Google Shape;261;p9"/>
          <p:cNvSpPr txBox="1"/>
          <p:nvPr/>
        </p:nvSpPr>
        <p:spPr>
          <a:xfrm>
            <a:off x="658368" y="146304"/>
            <a:ext cx="1184940"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b="1" i="0" u="none" strike="noStrike" cap="none">
                <a:solidFill>
                  <a:srgbClr val="14917D"/>
                </a:solidFill>
                <a:latin typeface="Arial"/>
                <a:ea typeface="Arial"/>
                <a:cs typeface="Arial"/>
                <a:sym typeface="Arial"/>
              </a:rPr>
              <a:t>HACKORBIT 2K26</a:t>
            </a:r>
            <a:endParaRPr sz="900" b="1" i="0" u="none" strike="noStrike" cap="none">
              <a:solidFill>
                <a:srgbClr val="14917D"/>
              </a:solidFill>
              <a:latin typeface="Arial"/>
              <a:ea typeface="Arial"/>
              <a:cs typeface="Arial"/>
              <a:sym typeface="Arial"/>
            </a:endParaRPr>
          </a:p>
        </p:txBody>
      </p:sp>
      <p:sp>
        <p:nvSpPr>
          <p:cNvPr id="262" name="Google Shape;262;p9"/>
          <p:cNvSpPr txBox="1"/>
          <p:nvPr/>
        </p:nvSpPr>
        <p:spPr>
          <a:xfrm>
            <a:off x="640080" y="438912"/>
            <a:ext cx="10881360" cy="5303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a:solidFill>
                  <a:srgbClr val="192A46"/>
                </a:solidFill>
                <a:latin typeface="Arial"/>
                <a:ea typeface="Arial"/>
                <a:cs typeface="Arial"/>
                <a:sym typeface="Arial"/>
              </a:rPr>
              <a:t>FUTURE SCOPE &amp; CONCLUSION</a:t>
            </a:r>
            <a:endParaRPr/>
          </a:p>
        </p:txBody>
      </p:sp>
      <p:sp>
        <p:nvSpPr>
          <p:cNvPr id="263" name="Google Shape;263;p9"/>
          <p:cNvSpPr txBox="1"/>
          <p:nvPr/>
        </p:nvSpPr>
        <p:spPr>
          <a:xfrm>
            <a:off x="658368" y="987552"/>
            <a:ext cx="105156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697687"/>
                </a:solidFill>
                <a:latin typeface="Arial"/>
                <a:ea typeface="Arial"/>
                <a:cs typeface="Arial"/>
                <a:sym typeface="Arial"/>
              </a:rPr>
              <a:t>End with a clear vision</a:t>
            </a:r>
            <a:endParaRPr/>
          </a:p>
        </p:txBody>
      </p:sp>
      <p:sp>
        <p:nvSpPr>
          <p:cNvPr id="264" name="Google Shape;264;p9"/>
          <p:cNvSpPr/>
          <p:nvPr/>
        </p:nvSpPr>
        <p:spPr>
          <a:xfrm>
            <a:off x="731520" y="1417320"/>
            <a:ext cx="5212080" cy="356616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5" name="Google Shape;265;p9"/>
          <p:cNvSpPr txBox="1"/>
          <p:nvPr/>
        </p:nvSpPr>
        <p:spPr>
          <a:xfrm>
            <a:off x="932688" y="1572768"/>
            <a:ext cx="480974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FUTURE SCOPE</a:t>
            </a:r>
            <a:endParaRPr/>
          </a:p>
        </p:txBody>
      </p:sp>
      <p:sp>
        <p:nvSpPr>
          <p:cNvPr id="266" name="Google Shape;266;p9"/>
          <p:cNvSpPr txBox="1"/>
          <p:nvPr/>
        </p:nvSpPr>
        <p:spPr>
          <a:xfrm>
            <a:off x="932688" y="1984248"/>
            <a:ext cx="4809744" cy="2115923"/>
          </a:xfrm>
          <a:prstGeom prst="rect">
            <a:avLst/>
          </a:prstGeom>
          <a:noFill/>
          <a:ln>
            <a:noFill/>
          </a:ln>
        </p:spPr>
        <p:txBody>
          <a:bodyPr spcFirstLastPara="1" wrap="square" lIns="91425" tIns="45700" rIns="91425" bIns="45700" anchor="t" anchorCtr="0">
            <a:spAutoFit/>
          </a:bodyPr>
          <a:lstStyle/>
          <a:p>
            <a:r>
              <a:rPr lang="en-US" sz="1200">
                <a:sym typeface="Arial"/>
              </a:rPr>
              <a:t>• </a:t>
            </a:r>
            <a:r>
              <a:rPr lang="en-US" sz="1200"/>
              <a:t>Multilingual Handwriting</a:t>
            </a:r>
          </a:p>
          <a:p>
            <a:r>
              <a:rPr lang="en-US" sz="1200">
                <a:solidFill>
                  <a:srgbClr val="232D3C"/>
                </a:solidFill>
              </a:rPr>
              <a:t>Support Indian regional-language handwriting.</a:t>
            </a:r>
            <a:endParaRPr lang="en-US" sz="1200"/>
          </a:p>
          <a:p>
            <a:r>
              <a:rPr lang="en-US" sz="1200">
                <a:sym typeface="Arial"/>
              </a:rPr>
              <a:t>• </a:t>
            </a:r>
            <a:r>
              <a:rPr lang="en-US" sz="1200"/>
              <a:t>Voice Interaction</a:t>
            </a:r>
          </a:p>
          <a:p>
            <a:r>
              <a:rPr lang="en-US" sz="1200">
                <a:solidFill>
                  <a:srgbClr val="232D3C"/>
                </a:solidFill>
              </a:rPr>
              <a:t>Ask questions and listen to explanations.</a:t>
            </a:r>
            <a:endParaRPr lang="en-US" sz="1200"/>
          </a:p>
          <a:p>
            <a:r>
              <a:rPr lang="en-US" sz="1200">
                <a:sym typeface="Arial"/>
              </a:rPr>
              <a:t>• </a:t>
            </a:r>
            <a:r>
              <a:rPr lang="en-US" sz="1200"/>
              <a:t>Mobile Application</a:t>
            </a:r>
          </a:p>
          <a:p>
            <a:r>
              <a:rPr lang="en-US" sz="1200">
                <a:solidFill>
                  <a:srgbClr val="232D3C"/>
                </a:solidFill>
              </a:rPr>
              <a:t>Capture handwritten notes directly using a smartphone camera.</a:t>
            </a:r>
            <a:endParaRPr lang="en-US" sz="1200"/>
          </a:p>
          <a:p>
            <a:r>
              <a:rPr lang="en-US" sz="1200">
                <a:sym typeface="Arial"/>
              </a:rPr>
              <a:t>• </a:t>
            </a:r>
            <a:r>
              <a:rPr lang="en-US" sz="1200"/>
              <a:t>Cross-Document Knowledge</a:t>
            </a:r>
          </a:p>
          <a:p>
            <a:r>
              <a:rPr lang="en-US" sz="1200">
                <a:solidFill>
                  <a:srgbClr val="232D3C"/>
                </a:solidFill>
              </a:rPr>
              <a:t>Search and connect information across multiple notebooks.</a:t>
            </a:r>
            <a:endParaRPr lang="en-US" sz="1200"/>
          </a:p>
          <a:p>
            <a:r>
              <a:rPr lang="en-US" sz="1200">
                <a:sym typeface="Arial"/>
              </a:rPr>
              <a:t>• </a:t>
            </a:r>
            <a:r>
              <a:rPr lang="en-US" sz="1200"/>
              <a:t>Personalized Learning</a:t>
            </a:r>
          </a:p>
          <a:p>
            <a:r>
              <a:rPr lang="en-US" sz="1200">
                <a:solidFill>
                  <a:srgbClr val="232D3C"/>
                </a:solidFill>
              </a:rPr>
              <a:t>Adapt summaries, quizzes and revision material to the learner.</a:t>
            </a:r>
            <a:endParaRPr lang="en-US" sz="1200"/>
          </a:p>
          <a:p>
            <a:pPr marL="0" marR="0" lvl="0" indent="0" algn="l">
              <a:spcBef>
                <a:spcPts val="0"/>
              </a:spcBef>
              <a:spcAft>
                <a:spcPts val="0"/>
              </a:spcAft>
              <a:buNone/>
            </a:pPr>
            <a:endParaRPr lang="en-US" sz="1150" dirty="0">
              <a:solidFill>
                <a:srgbClr val="232D3C"/>
              </a:solidFill>
            </a:endParaRPr>
          </a:p>
        </p:txBody>
      </p:sp>
      <p:sp>
        <p:nvSpPr>
          <p:cNvPr id="267" name="Google Shape;267;p9"/>
          <p:cNvSpPr/>
          <p:nvPr/>
        </p:nvSpPr>
        <p:spPr>
          <a:xfrm>
            <a:off x="6217920" y="1417320"/>
            <a:ext cx="5212080" cy="3566160"/>
          </a:xfrm>
          <a:prstGeom prst="roundRect">
            <a:avLst>
              <a:gd name="adj" fmla="val 16667"/>
            </a:avLst>
          </a:prstGeom>
          <a:solidFill>
            <a:srgbClr val="FFFFFF"/>
          </a:solidFill>
          <a:ln w="9525" cap="flat" cmpd="sng">
            <a:solidFill>
              <a:srgbClr val="DCE2E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8" name="Google Shape;268;p9"/>
          <p:cNvSpPr txBox="1"/>
          <p:nvPr/>
        </p:nvSpPr>
        <p:spPr>
          <a:xfrm>
            <a:off x="6419088" y="1572768"/>
            <a:ext cx="4809744"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4917D"/>
                </a:solidFill>
                <a:latin typeface="Arial"/>
                <a:ea typeface="Arial"/>
                <a:cs typeface="Arial"/>
                <a:sym typeface="Arial"/>
              </a:rPr>
              <a:t>CONCLUSION</a:t>
            </a:r>
            <a:endParaRPr/>
          </a:p>
        </p:txBody>
      </p:sp>
      <p:sp>
        <p:nvSpPr>
          <p:cNvPr id="269" name="Google Shape;269;p9"/>
          <p:cNvSpPr txBox="1"/>
          <p:nvPr/>
        </p:nvSpPr>
        <p:spPr>
          <a:xfrm>
            <a:off x="6419088" y="1984248"/>
            <a:ext cx="4762852" cy="2846893"/>
          </a:xfrm>
          <a:prstGeom prst="rect">
            <a:avLst/>
          </a:prstGeom>
          <a:noFill/>
          <a:ln>
            <a:noFill/>
          </a:ln>
        </p:spPr>
        <p:txBody>
          <a:bodyPr spcFirstLastPara="1" wrap="square" lIns="91425" tIns="45700" rIns="91425" bIns="45700" anchor="t" anchorCtr="0">
            <a:spAutoFit/>
          </a:bodyPr>
          <a:lstStyle/>
          <a:p>
            <a:r>
              <a:rPr lang="en-US" sz="1200" b="1" err="1">
                <a:solidFill>
                  <a:srgbClr val="232D3C"/>
                </a:solidFill>
              </a:rPr>
              <a:t>NoteWise</a:t>
            </a:r>
            <a:r>
              <a:rPr lang="en-US" sz="1200" b="1">
                <a:solidFill>
                  <a:srgbClr val="232D3C"/>
                </a:solidFill>
              </a:rPr>
              <a:t> AI transforms handwritten academic notes into structured digital learning material. By combining OCR, image processing and AI-based text understanding, it reduces </a:t>
            </a:r>
            <a:r>
              <a:rPr lang="en-US" sz="1200" b="1" i="0" u="none" strike="noStrike" cap="none">
                <a:solidFill>
                  <a:srgbClr val="232D3C"/>
                </a:solidFill>
                <a:latin typeface="Arial"/>
                <a:ea typeface="Arial"/>
                <a:cs typeface="Arial"/>
                <a:sym typeface="Arial"/>
              </a:rPr>
              <a:t>the </a:t>
            </a:r>
            <a:r>
              <a:rPr lang="en-US" sz="1200" b="1">
                <a:solidFill>
                  <a:srgbClr val="232D3C"/>
                </a:solidFill>
              </a:rPr>
              <a:t>effort required to digitize and summarize notes. The </a:t>
            </a:r>
            <a:r>
              <a:rPr lang="en-US" sz="1200" b="1" i="0" u="none" strike="noStrike" cap="none">
                <a:solidFill>
                  <a:srgbClr val="232D3C"/>
                </a:solidFill>
                <a:latin typeface="Arial"/>
                <a:ea typeface="Arial"/>
                <a:cs typeface="Arial"/>
                <a:sym typeface="Arial"/>
              </a:rPr>
              <a:t>solution </a:t>
            </a:r>
            <a:r>
              <a:rPr lang="en-US" sz="1200" b="1">
                <a:solidFill>
                  <a:srgbClr val="232D3C"/>
                </a:solidFill>
              </a:rPr>
              <a:t>creates a simple path from handwritten content to faster revision </a:t>
            </a:r>
            <a:r>
              <a:rPr lang="en-US" sz="1200" b="1" i="0" u="none" strike="noStrike" cap="none">
                <a:solidFill>
                  <a:srgbClr val="232D3C"/>
                </a:solidFill>
                <a:latin typeface="Arial"/>
                <a:ea typeface="Arial"/>
                <a:cs typeface="Arial"/>
                <a:sym typeface="Arial"/>
              </a:rPr>
              <a:t>and </a:t>
            </a:r>
            <a:r>
              <a:rPr lang="en-US" sz="1200" b="1">
                <a:solidFill>
                  <a:srgbClr val="232D3C"/>
                </a:solidFill>
              </a:rPr>
              <a:t>learning.</a:t>
            </a:r>
            <a:br>
              <a:rPr lang="en-US" sz="1150" b="0" i="0" u="none" strike="noStrike" cap="none" dirty="0">
                <a:latin typeface="Arial"/>
                <a:ea typeface="Arial"/>
                <a:cs typeface="Arial"/>
              </a:rPr>
            </a:br>
            <a:br>
              <a:rPr lang="en-US" sz="1150" b="0" i="0" u="none" strike="noStrike" cap="none" dirty="0">
                <a:latin typeface="Arial"/>
                <a:ea typeface="Arial"/>
                <a:cs typeface="Arial"/>
              </a:rPr>
            </a:br>
            <a:r>
              <a:rPr lang="en-US">
                <a:sym typeface="Arial"/>
              </a:rPr>
              <a:t>OUR VISION</a:t>
            </a:r>
            <a:endParaRPr lang="en-US"/>
          </a:p>
          <a:p>
            <a:r>
              <a:rPr lang="en-US" b="1" dirty="0"/>
              <a:t>“Every handwritten note should become searchable </a:t>
            </a:r>
            <a:r>
              <a:rPr lang="en-US" b="1"/>
              <a:t>knowledge.”</a:t>
            </a:r>
            <a:br>
              <a:rPr lang="en-US" b="1" dirty="0"/>
            </a:br>
            <a:endParaRPr lang="en-US"/>
          </a:p>
          <a:p>
            <a:r>
              <a:rPr lang="en-US" b="1"/>
              <a:t>“We don't just digitize notes. We make them useful.”</a:t>
            </a:r>
            <a:endParaRPr lang="en-US"/>
          </a:p>
          <a:p>
            <a:endParaRPr lang="en-US" b="1" dirty="0"/>
          </a:p>
          <a:p>
            <a:endParaRPr lang="en-US" sz="1150" dirty="0"/>
          </a:p>
        </p:txBody>
      </p:sp>
      <p:sp>
        <p:nvSpPr>
          <p:cNvPr id="270" name="Google Shape;270;p9"/>
          <p:cNvSpPr txBox="1"/>
          <p:nvPr/>
        </p:nvSpPr>
        <p:spPr>
          <a:xfrm>
            <a:off x="731520" y="5440680"/>
            <a:ext cx="10698480" cy="5029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000" b="1" i="0" u="none" strike="noStrike" cap="none">
                <a:solidFill>
                  <a:srgbClr val="14917D"/>
                </a:solidFill>
                <a:latin typeface="Arial"/>
                <a:ea typeface="Arial"/>
                <a:cs typeface="Arial"/>
                <a:sym typeface="Arial"/>
              </a:rPr>
              <a:t>THANK YOU</a:t>
            </a:r>
            <a:endParaRPr/>
          </a:p>
        </p:txBody>
      </p:sp>
      <p:sp>
        <p:nvSpPr>
          <p:cNvPr id="271" name="Google Shape;271;p9"/>
          <p:cNvSpPr txBox="1"/>
          <p:nvPr/>
        </p:nvSpPr>
        <p:spPr>
          <a:xfrm>
            <a:off x="11109960" y="6473952"/>
            <a:ext cx="365760" cy="18288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800" b="0" i="0" u="none" strike="noStrike" cap="none">
                <a:solidFill>
                  <a:srgbClr val="697687"/>
                </a:solidFill>
                <a:latin typeface="Arial"/>
                <a:ea typeface="Arial"/>
                <a:cs typeface="Arial"/>
                <a:sym typeface="Arial"/>
              </a:rPr>
              <a:t>10</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9</Slides>
  <Notes>9</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193</cp:revision>
  <dcterms:created xsi:type="dcterms:W3CDTF">2013-01-27T09:14:16Z</dcterms:created>
  <dcterms:modified xsi:type="dcterms:W3CDTF">2026-08-12T08:27:12Z</dcterms:modified>
</cp:coreProperties>
</file>